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98" r:id="rId2"/>
    <p:sldId id="256" r:id="rId3"/>
    <p:sldId id="320" r:id="rId4"/>
    <p:sldId id="257" r:id="rId5"/>
    <p:sldId id="258" r:id="rId6"/>
    <p:sldId id="259" r:id="rId7"/>
    <p:sldId id="260" r:id="rId8"/>
    <p:sldId id="319" r:id="rId9"/>
    <p:sldId id="261" r:id="rId10"/>
    <p:sldId id="262" r:id="rId11"/>
    <p:sldId id="263" r:id="rId12"/>
    <p:sldId id="264" r:id="rId13"/>
    <p:sldId id="265" r:id="rId14"/>
    <p:sldId id="311" r:id="rId15"/>
    <p:sldId id="312" r:id="rId16"/>
    <p:sldId id="313" r:id="rId17"/>
    <p:sldId id="337" r:id="rId18"/>
    <p:sldId id="314" r:id="rId19"/>
    <p:sldId id="339" r:id="rId20"/>
    <p:sldId id="315" r:id="rId21"/>
    <p:sldId id="338" r:id="rId22"/>
    <p:sldId id="316" r:id="rId23"/>
    <p:sldId id="336" r:id="rId24"/>
    <p:sldId id="317" r:id="rId25"/>
    <p:sldId id="318" r:id="rId26"/>
    <p:sldId id="323" r:id="rId27"/>
    <p:sldId id="321" r:id="rId28"/>
    <p:sldId id="324" r:id="rId29"/>
    <p:sldId id="322" r:id="rId30"/>
    <p:sldId id="335" r:id="rId31"/>
    <p:sldId id="340" r:id="rId32"/>
    <p:sldId id="341" r:id="rId33"/>
    <p:sldId id="342" r:id="rId34"/>
    <p:sldId id="343" r:id="rId35"/>
    <p:sldId id="34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45" r:id="rId47"/>
    <p:sldId id="346" r:id="rId48"/>
    <p:sldId id="347" r:id="rId49"/>
    <p:sldId id="348" r:id="rId50"/>
    <p:sldId id="349" r:id="rId51"/>
    <p:sldId id="350" r:id="rId52"/>
    <p:sldId id="351" r:id="rId53"/>
    <p:sldId id="352" r:id="rId5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538AC-9BC3-450F-8F34-D177C40C509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3D4A1-BE32-4283-A32B-5494A7E674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34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BE95-33B8-C7D9-6F72-4552DA061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887AA-4EEC-E2F1-01E4-54EE5E994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BA66C-F794-0F42-C7DC-F1BFE4B23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7690-0D7B-E8C2-D65A-1875F661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7AF79-9655-7757-A2DF-16F20C2A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4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24A8-1674-7598-5987-9C6FC74C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6D2F8-F5A7-2BEF-061B-A3F33FABE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C1E1D-BA83-93A6-9033-CA63A552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E9084-0DA1-2991-485B-ECB68A70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525A5-9025-FC14-124C-269832E8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38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BBEF-724F-770C-17FA-79F5642C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CA34F-B9E7-B4F9-986C-9E5616410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79B39-0570-A806-D8A0-B91500A2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5AA3-24EE-B7F8-F0BA-7E162107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889D0-AF98-938A-AE72-AC585547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06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69F7-A05C-46DA-69A8-9316FB09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7E7E-D99C-0546-657D-3388F3539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2738-6F9D-289E-A030-50F0DEDE9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2E6B9-DF42-52A5-EBDD-DA58A06D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EA491-680A-6FE2-AA67-5E593EF6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56DD7-C987-FB6B-F70B-DA6A38B5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4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EE8A-A942-3CD1-31A6-1FE0BE78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57D4-C711-E495-5BFF-D64AB619F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0177E-7D05-75FB-646F-213F00738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EDA84-C16A-A476-214E-21E59EB83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33B1F-CA8A-9716-21BF-B76390AAE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7D06E-1D19-20B8-8F69-3D24FFAD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AD8F93-EF8B-FEE1-6C25-A700B8EB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8B6C76-1569-8D0E-AACA-BC68090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83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800C-0556-3A21-CC49-C4E4F6BE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12BD0-4028-54CE-DDF6-4E523E67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7D2EC-12E4-5A63-03F4-4CD98A6F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7F2AF-8134-ECD2-75E8-F5DC0F5E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99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144EB-9149-4B84-64CE-6BF245FF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001BE-25BE-B8B3-AF75-E75BFC07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96427-F1E2-1EB8-7038-54A52036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3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F8B9-6D36-6A20-948C-55920448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CD9F2-94D7-0A61-BC14-67C0B3B81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C65A6-683E-DDA3-DBBB-F16098EBA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B432A-FD64-CE29-25D0-C829F898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14B6A-D9D0-FC3C-E0B3-E1DA380B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0ED9B-90D2-4D12-7550-B708A3C8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86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5471-92EB-1CF8-AD2B-9C4DD4CA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CEEFA-9818-15D6-54E3-58728A2A496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961E4-40C5-2508-66E1-0FC7F6190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71A00-7F3A-7B04-9423-3B34275B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11229-9F5C-3839-80BE-EA079621F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6C0B8-D903-8903-34B7-6BB5BF2D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75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0507-2A2C-E011-FB11-95AB04C3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80F35-028D-FE42-D37C-FE53B4829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B310-2755-9EDC-7B83-3A2A0804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8FA47-9F59-BE90-9D0B-AF192682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89230-0A58-C103-28A2-911FFC95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309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EE813-DB2E-F58F-5D4F-22D29238B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EF41B-2429-92F3-FA6C-701E953E9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AF129-1ACE-C858-7653-DCB08A60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B346C-60D3-6FAC-5A84-04DC4B42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A909D-E88C-7CC9-5891-E3F9CE38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33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B6ED79-ED48-6691-EFBC-7BB2B6F2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D9A0A-2D6D-A84D-0B85-C11081455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4404A-C780-A659-DBBF-1F07A6B99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F4D4E-6054-4B15-8EDC-65FFC713635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3E6F1-A798-E7A5-72B3-9D34EA01E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ECFE-031C-9AA5-8987-31E5F39D4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07606-8160-432B-990A-601B32E5F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48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5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7" Type="http://schemas.openxmlformats.org/officeDocument/2006/relationships/image" Target="../media/image7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7" Type="http://schemas.openxmlformats.org/officeDocument/2006/relationships/image" Target="../media/image9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7" Type="http://schemas.openxmlformats.org/officeDocument/2006/relationships/image" Target="../media/image9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3" Type="http://schemas.openxmlformats.org/officeDocument/2006/relationships/image" Target="../media/image840.png"/><Relationship Id="rId7" Type="http://schemas.openxmlformats.org/officeDocument/2006/relationships/image" Target="../media/image88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0.png"/><Relationship Id="rId5" Type="http://schemas.openxmlformats.org/officeDocument/2006/relationships/image" Target="../media/image860.png"/><Relationship Id="rId4" Type="http://schemas.openxmlformats.org/officeDocument/2006/relationships/image" Target="../media/image10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00.png"/><Relationship Id="rId7" Type="http://schemas.openxmlformats.org/officeDocument/2006/relationships/image" Target="../media/image10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90.png"/><Relationship Id="rId7" Type="http://schemas.openxmlformats.org/officeDocument/2006/relationships/image" Target="../media/image10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0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3" Type="http://schemas.openxmlformats.org/officeDocument/2006/relationships/image" Target="../media/image1050.png"/><Relationship Id="rId7" Type="http://schemas.openxmlformats.org/officeDocument/2006/relationships/image" Target="../media/image109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0.png"/><Relationship Id="rId5" Type="http://schemas.openxmlformats.org/officeDocument/2006/relationships/image" Target="../media/image110.png"/><Relationship Id="rId4" Type="http://schemas.openxmlformats.org/officeDocument/2006/relationships/image" Target="../media/image10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002060"/>
            </a:gs>
            <a:gs pos="0">
              <a:schemeClr val="tx1">
                <a:lumMod val="85000"/>
                <a:lumOff val="15000"/>
              </a:schemeClr>
            </a:gs>
            <a:gs pos="100000">
              <a:srgbClr val="4608E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163B8-89AC-3900-3E52-D393D5A7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3FDA9-9C05-D9A0-5641-6E447D554049}"/>
              </a:ext>
            </a:extLst>
          </p:cNvPr>
          <p:cNvSpPr txBox="1">
            <a:spLocks/>
          </p:cNvSpPr>
          <p:nvPr/>
        </p:nvSpPr>
        <p:spPr>
          <a:xfrm>
            <a:off x="938768" y="345549"/>
            <a:ext cx="105786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 CET LEVEL Questions</a:t>
            </a:r>
            <a:endParaRPr lang="en-GB" sz="6000"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11C76-5824-BEAF-CBFE-088696301A77}"/>
              </a:ext>
            </a:extLst>
          </p:cNvPr>
          <p:cNvSpPr txBox="1">
            <a:spLocks/>
          </p:cNvSpPr>
          <p:nvPr/>
        </p:nvSpPr>
        <p:spPr>
          <a:xfrm>
            <a:off x="806688" y="2413337"/>
            <a:ext cx="105786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12 </a:t>
            </a:r>
            <a:endParaRPr lang="en-GB" sz="6000" b="1" i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FF259-4537-53B8-43D2-736C442060B6}"/>
              </a:ext>
            </a:extLst>
          </p:cNvPr>
          <p:cNvSpPr txBox="1">
            <a:spLocks/>
          </p:cNvSpPr>
          <p:nvPr/>
        </p:nvSpPr>
        <p:spPr>
          <a:xfrm>
            <a:off x="3190240" y="5283199"/>
            <a:ext cx="560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9537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CDC13F7-7461-4CB8-E4A8-0E069D95B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2E9EFA-8F40-5262-0231-2CFB1C0E1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8" y="595149"/>
            <a:ext cx="3848433" cy="141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9877E-3D08-EAF1-F6BF-8DC14E108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835" y="1123881"/>
            <a:ext cx="1905165" cy="495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A8214C-4D33-AF5C-3989-B03E149BD755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B1691-0EF9-C444-6179-7FCB2D0E2FB4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9D4B6-C117-8CE1-808F-04D6AAB0AC58}"/>
              </a:ext>
            </a:extLst>
          </p:cNvPr>
          <p:cNvSpPr txBox="1"/>
          <p:nvPr/>
        </p:nvSpPr>
        <p:spPr>
          <a:xfrm>
            <a:off x="235975" y="1016787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F6D76-0989-A5D4-896D-DC4C6B22EAA4}"/>
              </a:ext>
            </a:extLst>
          </p:cNvPr>
          <p:cNvSpPr txBox="1"/>
          <p:nvPr/>
        </p:nvSpPr>
        <p:spPr>
          <a:xfrm>
            <a:off x="602675" y="2002663"/>
            <a:ext cx="3123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-10                          B) -11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10                           D)  11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90E058-48D2-62F5-7B88-F869E4AEF1A8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EC0D6E-4DAB-47E0-3C25-A10DA83418DF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C)10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8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5C0D-7C90-A248-1BF6-7B4611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A9A202F-7C11-9EAF-BF7F-3225284A4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C1EFE4-5282-48DF-6EDC-5FCCBD9AB855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6DF08-B68F-6D3A-8DAA-D34DBF8725EA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94A5AA-C2AA-AF32-0415-F8163FD52270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9BDB6C-86E6-4F90-E1FE-FA04666F37F8}"/>
              </a:ext>
            </a:extLst>
          </p:cNvPr>
          <p:cNvSpPr txBox="1"/>
          <p:nvPr/>
        </p:nvSpPr>
        <p:spPr>
          <a:xfrm>
            <a:off x="818985" y="2708016"/>
            <a:ext cx="3330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04                          B) 05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06                          D)  03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EB4DA2-3B24-7481-42F6-67DDCE092C37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FE4DC40-1543-3C58-2635-1753FA2F0A7F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8D1575-8AC2-EE0B-75B8-57622D161B4E}"/>
                  </a:ext>
                </a:extLst>
              </p:cNvPr>
              <p:cNvSpPr txBox="1"/>
              <p:nvPr/>
            </p:nvSpPr>
            <p:spPr>
              <a:xfrm>
                <a:off x="691612" y="1292335"/>
                <a:ext cx="5131544" cy="1656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</m:m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𝐴𝑋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the value of </a:t>
                </a:r>
                <a:br>
                  <a:rPr lang="en-IN" dirty="0"/>
                </a:br>
                <a:r>
                  <a:rPr lang="en-IN" dirty="0"/>
                  <a:t>x1+x2+x3=</a:t>
                </a:r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8D1575-8AC2-EE0B-75B8-57622D161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12" y="1292335"/>
                <a:ext cx="5131544" cy="1656607"/>
              </a:xfrm>
              <a:prstGeom prst="rect">
                <a:avLst/>
              </a:prstGeom>
              <a:blipFill>
                <a:blip r:embed="rId3"/>
                <a:stretch>
                  <a:fillRect l="-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8B0A9A-3142-6B67-F685-166ADEEDFEC8}"/>
              </a:ext>
            </a:extLst>
          </p:cNvPr>
          <p:cNvSpPr txBox="1"/>
          <p:nvPr/>
        </p:nvSpPr>
        <p:spPr>
          <a:xfrm>
            <a:off x="272846" y="9290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2021 (23 Sep Shift 2)</a:t>
            </a:r>
          </a:p>
          <a:p>
            <a:pPr>
              <a:buNone/>
            </a:pP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467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EC6BA-FE87-5EB6-7592-2244D967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CE0689A-2C9D-F1CC-C7C2-9FDD520525F0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0F38A-5EBB-8C90-0520-EE27277FB2E2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5D44E-FFF2-0C40-2A54-BEA0BCAD0587}"/>
              </a:ext>
            </a:extLst>
          </p:cNvPr>
          <p:cNvSpPr txBox="1"/>
          <p:nvPr/>
        </p:nvSpPr>
        <p:spPr>
          <a:xfrm>
            <a:off x="332792" y="21432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 2                          B)  4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-4                          D) -2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DA7FC6-8501-876E-87B7-967847BD3817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412012-2328-4DDF-CF61-3D7A46A6D4ED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 4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BDF27-853A-D429-B8D0-37E5AE0C1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66" y="1069545"/>
            <a:ext cx="3920509" cy="646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6A8984-41CD-81FD-0C99-C750CBA8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020" y="1715876"/>
            <a:ext cx="2811300" cy="5142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2A0DE7-F771-A99C-B158-369903288FD9}"/>
              </a:ext>
            </a:extLst>
          </p:cNvPr>
          <p:cNvSpPr txBox="1"/>
          <p:nvPr/>
        </p:nvSpPr>
        <p:spPr>
          <a:xfrm>
            <a:off x="127819" y="1269448"/>
            <a:ext cx="409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20419B-6228-43EB-EB6B-087C54274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1016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75553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F36D-DD9B-8BBD-BF0F-718D055C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44FAD8-CFFC-8E6A-90EB-1E68DC6CCFD8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893B-601A-719E-3EC3-7083CE78D27F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B4CBA-01E2-60E6-9AE0-4C070D3E1362}"/>
              </a:ext>
            </a:extLst>
          </p:cNvPr>
          <p:cNvSpPr txBox="1"/>
          <p:nvPr/>
        </p:nvSpPr>
        <p:spPr>
          <a:xfrm>
            <a:off x="142413" y="1074417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D0375-9190-5E5F-220C-6D1B7C8CF5BB}"/>
              </a:ext>
            </a:extLst>
          </p:cNvPr>
          <p:cNvSpPr txBox="1"/>
          <p:nvPr/>
        </p:nvSpPr>
        <p:spPr>
          <a:xfrm>
            <a:off x="459898" y="29041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07                          B) 09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08                           D) 10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931753-CADF-3F7E-F59A-5576DACFF0FD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1DE38B-E4B5-4C15-F21F-58CBF841D05B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C)10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83634-3F07-BEA7-D3F7-2A41156A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322" b="43832"/>
          <a:stretch>
            <a:fillRect/>
          </a:stretch>
        </p:blipFill>
        <p:spPr>
          <a:xfrm>
            <a:off x="459898" y="1003713"/>
            <a:ext cx="4497416" cy="646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42C018-C062-2F44-1A5D-998E0ED69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3" y="1421693"/>
            <a:ext cx="2522439" cy="662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46C58D-ED2B-D332-F667-7DD2BACE2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63"/>
          <a:stretch>
            <a:fillRect/>
          </a:stretch>
        </p:blipFill>
        <p:spPr>
          <a:xfrm>
            <a:off x="0" y="2068024"/>
            <a:ext cx="5632787" cy="6847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4C0C09-B840-5C0F-E55B-CDB14A1AC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1016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03326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D39C-2CC6-D9C9-D977-3EE1525E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50717D-C98F-510D-5766-EFD062E9CCAB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FADF6-83CD-B423-B639-72C27AFEC68D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338A45-9AAF-0F83-728D-65016496B3C0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Consider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84BFE0-0620-0E10-B8CA-F91C98E6786E}"/>
                  </a:ext>
                </a:extLst>
              </p:cNvPr>
              <p:cNvSpPr txBox="1"/>
              <p:nvPr/>
            </p:nvSpPr>
            <p:spPr>
              <a:xfrm>
                <a:off x="209384" y="2207585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A)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 can be symmetric for suitable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IN" dirty="0"/>
              </a:p>
              <a:p>
                <a:r>
                  <a:rPr lang="en-IN" dirty="0"/>
                  <a:t>B)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 can be skew-symmetric for suitable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can be symmetric only 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i="0"/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, but the given entries make this impossible</a:t>
                </a:r>
              </a:p>
              <a:p>
                <a:r>
                  <a:rPr lang="en-IN" dirty="0"/>
                  <a:t>D)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 is necessarily symmetric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84BFE0-0620-0E10-B8CA-F91C98E67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84" y="2207585"/>
                <a:ext cx="6096000" cy="1477328"/>
              </a:xfrm>
              <a:prstGeom prst="rect">
                <a:avLst/>
              </a:prstGeom>
              <a:blipFill>
                <a:blip r:embed="rId2"/>
                <a:stretch>
                  <a:fillRect l="-800" t="-1653" b="-61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F8BDB4-C34C-F130-CC01-AAB36D617887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FB5242-ECE7-7F12-72DF-11F1DA0130B6}"/>
                  </a:ext>
                </a:extLst>
              </p:cNvPr>
              <p:cNvSpPr txBox="1"/>
              <p:nvPr/>
            </p:nvSpPr>
            <p:spPr>
              <a:xfrm>
                <a:off x="6837680" y="6083579"/>
                <a:ext cx="55270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Answer: </a:t>
                </a:r>
                <a:r>
                  <a:rPr lang="en-IN" dirty="0"/>
                  <a:t>C)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can be symmetric only 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i="0"/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, but the given entries make this impossible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FB5242-ECE7-7F12-72DF-11F1DA013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80" y="6083579"/>
                <a:ext cx="5527040" cy="923330"/>
              </a:xfrm>
              <a:prstGeom prst="rect">
                <a:avLst/>
              </a:prstGeom>
              <a:blipFill>
                <a:blip r:embed="rId3"/>
                <a:stretch>
                  <a:fillRect l="-993" t="-4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3577518-CA25-DA11-5E19-E76BE9BCE8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184" t="21738" r="15202" b="9646"/>
          <a:stretch>
            <a:fillRect/>
          </a:stretch>
        </p:blipFill>
        <p:spPr>
          <a:xfrm>
            <a:off x="1416701" y="1087102"/>
            <a:ext cx="1905166" cy="967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2CD734-7F22-5CBF-7838-E0CAD79F2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616" y="1374575"/>
            <a:ext cx="2682472" cy="4724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B49BA-393B-1A6E-7573-F6DB4FB35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35470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AB20-D4F5-96AE-16EF-2A0B6637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EC81621-86F0-26DA-1690-B788C54919CF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3B110E-6059-BAE0-1F87-2CDB263C4DFD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1052B-19C9-303D-8A4E-57780BC86252}"/>
              </a:ext>
            </a:extLst>
          </p:cNvPr>
          <p:cNvSpPr txBox="1"/>
          <p:nvPr/>
        </p:nvSpPr>
        <p:spPr>
          <a:xfrm>
            <a:off x="204892" y="965706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55D2F4-46BD-5D27-EB63-8B86E38A1183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24531E-E82D-82D1-2A42-D3FB31A54F6F}"/>
              </a:ext>
            </a:extLst>
          </p:cNvPr>
          <p:cNvSpPr txBox="1"/>
          <p:nvPr/>
        </p:nvSpPr>
        <p:spPr>
          <a:xfrm>
            <a:off x="9402634" y="61953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D8C55-122C-A701-7036-0B6F088D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9" t="23592" b="17738"/>
          <a:stretch>
            <a:fillRect/>
          </a:stretch>
        </p:blipFill>
        <p:spPr>
          <a:xfrm>
            <a:off x="835094" y="878588"/>
            <a:ext cx="1504335" cy="4962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C4CFF3-8997-F126-F434-6C660BBAA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427" y="844775"/>
            <a:ext cx="1531753" cy="6858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87731A3-4166-F619-1ABD-28FD0E9952E3}"/>
              </a:ext>
            </a:extLst>
          </p:cNvPr>
          <p:cNvSpPr txBox="1"/>
          <p:nvPr/>
        </p:nvSpPr>
        <p:spPr>
          <a:xfrm>
            <a:off x="2177567" y="1003039"/>
            <a:ext cx="784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46F7F4-DC66-FCE5-091D-BF19F6DF84F2}"/>
                  </a:ext>
                </a:extLst>
              </p:cNvPr>
              <p:cNvSpPr txBox="1"/>
              <p:nvPr/>
            </p:nvSpPr>
            <p:spPr>
              <a:xfrm>
                <a:off x="4358640" y="100303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is: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46F7F4-DC66-FCE5-091D-BF19F6DF8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40" y="1003038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5372BF27-DBCB-8A59-E193-FED9076E2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78" y="1412523"/>
            <a:ext cx="1615580" cy="10897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D693BBB-33B9-8CAB-4370-2710DC814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548" y="1487189"/>
            <a:ext cx="1524132" cy="10821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FAE70CE-0543-A3D9-15FD-49A62E9490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422" y="2476877"/>
            <a:ext cx="1508891" cy="9678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C7A980F-120E-8B03-731E-C42A058FF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6982" y="2476877"/>
            <a:ext cx="1486029" cy="10364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EE97CDF-C1EF-179F-BB3B-36CD85F9A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6420" y="5745665"/>
            <a:ext cx="1615580" cy="108975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D4EE3EB-4B59-E419-DBB8-69A806F6AF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65157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D008-C199-84CB-47B9-DBCA0CA1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17ED5A-3251-ADD9-7DB0-9A183072670B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FEA5F-899F-1227-495A-0C34A72A1A2A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676C76-CB14-B648-A20C-E99D7B95CEFE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3F109A-C16C-863D-C681-72217C63BBDD}"/>
              </a:ext>
            </a:extLst>
          </p:cNvPr>
          <p:cNvSpPr txBox="1"/>
          <p:nvPr/>
        </p:nvSpPr>
        <p:spPr>
          <a:xfrm>
            <a:off x="10144082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-01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D436AA-B303-12C4-98EC-1476B9EF37C8}"/>
                  </a:ext>
                </a:extLst>
              </p:cNvPr>
              <p:cNvSpPr txBox="1"/>
              <p:nvPr/>
            </p:nvSpPr>
            <p:spPr>
              <a:xfrm>
                <a:off x="286459" y="1303871"/>
                <a:ext cx="5504744" cy="1017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3×3</m:t>
                        </m:r>
                      </m:sub>
                    </m:sSub>
                  </m:oMath>
                </a14:m>
                <a:r>
                  <a:rPr lang="en-IN" dirty="0"/>
                  <a:t>is a matrix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IN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n-IN" dirty="0"/>
                  <a:t>denotes the modulus function, then the element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nd</m:t>
                        </m:r>
                      </m:sup>
                    </m:sSup>
                  </m:oMath>
                </a14:m>
                <a:r>
                  <a:rPr lang="en-IN" dirty="0"/>
                  <a:t>row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rd</m:t>
                        </m:r>
                      </m:sup>
                    </m:sSup>
                  </m:oMath>
                </a14:m>
                <a:r>
                  <a:rPr lang="en-IN" dirty="0"/>
                  <a:t>column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IN" dirty="0"/>
                  <a:t>is ...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D436AA-B303-12C4-98EC-1476B9EF3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9" y="1303871"/>
                <a:ext cx="5504744" cy="1017073"/>
              </a:xfrm>
              <a:prstGeom prst="rect">
                <a:avLst/>
              </a:prstGeom>
              <a:blipFill>
                <a:blip r:embed="rId2"/>
                <a:stretch>
                  <a:fillRect l="-997" t="-599" b="-8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DC01DA10-BC98-EDC8-4986-8ABD0DD47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0EC3BE-402E-9BF2-81BD-FBE46554D40D}"/>
              </a:ext>
            </a:extLst>
          </p:cNvPr>
          <p:cNvSpPr txBox="1"/>
          <p:nvPr/>
        </p:nvSpPr>
        <p:spPr>
          <a:xfrm>
            <a:off x="286458" y="939215"/>
            <a:ext cx="3636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2026 (16 April Shift 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9764B-102A-16C5-E41A-0103E8CF409A}"/>
              </a:ext>
            </a:extLst>
          </p:cNvPr>
          <p:cNvSpPr txBox="1"/>
          <p:nvPr/>
        </p:nvSpPr>
        <p:spPr>
          <a:xfrm>
            <a:off x="563345" y="23209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03                          B)   01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00                           D) -01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AE47B-5614-45F1-C398-59C8BFDD337B}"/>
              </a:ext>
            </a:extLst>
          </p:cNvPr>
          <p:cNvSpPr txBox="1"/>
          <p:nvPr/>
        </p:nvSpPr>
        <p:spPr>
          <a:xfrm>
            <a:off x="64228" y="1303871"/>
            <a:ext cx="44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6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7DD6-F337-92E9-4D4D-49BC6F61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D3BC32-1653-EC98-795B-1B3AD7718F9D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F4BFF3-3099-76DD-890A-2EE54FA0B968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E081D-205C-8A1A-9EDD-257F1BBA3C23}"/>
              </a:ext>
            </a:extLst>
          </p:cNvPr>
          <p:cNvSpPr txBox="1"/>
          <p:nvPr/>
        </p:nvSpPr>
        <p:spPr>
          <a:xfrm>
            <a:off x="209384" y="108433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Let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764129-5C36-2DE0-9A55-9CDFA35848FC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98AE73-8C6F-67B6-B494-E0F22E53AD64}"/>
              </a:ext>
            </a:extLst>
          </p:cNvPr>
          <p:cNvSpPr txBox="1"/>
          <p:nvPr/>
        </p:nvSpPr>
        <p:spPr>
          <a:xfrm>
            <a:off x="7000243" y="6288090"/>
            <a:ext cx="5344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C)</a:t>
            </a:r>
            <a:r>
              <a:rPr lang="en-IN" b="1" dirty="0"/>
              <a:t> Scalar matrix, but not identity matrix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DF4B2A-EF73-F8B2-D08A-E6EFA2E1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03"/>
          <a:stretch>
            <a:fillRect/>
          </a:stretch>
        </p:blipFill>
        <p:spPr>
          <a:xfrm>
            <a:off x="175255" y="2157013"/>
            <a:ext cx="4160881" cy="15228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C9B7FE-5D74-CC65-228C-9AAA36AC0A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52"/>
          <a:stretch>
            <a:fillRect/>
          </a:stretch>
        </p:blipFill>
        <p:spPr>
          <a:xfrm>
            <a:off x="961551" y="888221"/>
            <a:ext cx="2110923" cy="115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7117CF-4E36-54CE-B65D-95E05C54E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034" y="1075251"/>
            <a:ext cx="2522439" cy="4572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774753-24B9-3F8F-C37E-5274AF2C1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89983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4FF6-A328-8659-790D-A1DDA49DE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8A2845C-971D-3486-C867-17EB70115064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AC9C0-24F7-C89E-F76D-5B53F43D7BD5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9D294-1351-4F4B-D038-F3DAEE3FBE12}"/>
              </a:ext>
            </a:extLst>
          </p:cNvPr>
          <p:cNvSpPr txBox="1"/>
          <p:nvPr/>
        </p:nvSpPr>
        <p:spPr>
          <a:xfrm>
            <a:off x="209384" y="124856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823D4-2F29-AC6C-AF30-CADEE4A08CCB}"/>
              </a:ext>
            </a:extLst>
          </p:cNvPr>
          <p:cNvSpPr txBox="1"/>
          <p:nvPr/>
        </p:nvSpPr>
        <p:spPr>
          <a:xfrm>
            <a:off x="445358" y="19245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10                          B)  17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13                           D) 25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0741D5-01CD-1845-E951-1EE8ADF2B8CF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2FEC4E-E140-DE55-B6EF-AF86D39021AA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D)25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877DB1-2E73-4FD3-4BB6-94328F847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5" y="879232"/>
            <a:ext cx="3337849" cy="990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AEB746-D808-1374-E41B-A2A51BC4D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417" y="1222715"/>
            <a:ext cx="1844200" cy="434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CDAEB5-8D6A-E99E-8667-683969E4E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9602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CFBF-C901-0A94-F676-B89FAA88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2ACD72-407C-945A-A713-03FB82150D17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049BE-B582-2959-2687-FA86034D57AA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D83C4-3A7F-CD2D-79EC-93AE68E10564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1E39B-B75F-DF2E-D646-692C84B600F3}"/>
              </a:ext>
            </a:extLst>
          </p:cNvPr>
          <p:cNvSpPr txBox="1"/>
          <p:nvPr/>
        </p:nvSpPr>
        <p:spPr>
          <a:xfrm>
            <a:off x="425038" y="27038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3                          B) 5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4                          D) 6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A6EAE2-3995-55A1-6B1A-4385F3B21CF3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F7EB8F-D1CD-EC7A-E3FF-AE4300954844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 05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38849-E2AB-2802-EDAA-DA3EC6BE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93" t="26325"/>
          <a:stretch>
            <a:fillRect/>
          </a:stretch>
        </p:blipFill>
        <p:spPr>
          <a:xfrm>
            <a:off x="853440" y="1056199"/>
            <a:ext cx="2028904" cy="11740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79B41A-BFF2-7C4F-F2AE-EE7C258F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" y="2062283"/>
            <a:ext cx="5689836" cy="6463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942DE1-A520-9C5B-EC09-9C0CC8918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6193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CF82-F0D7-5582-2351-12D454E3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CB1582-D9DD-5C7D-22B2-53AD376278FB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E2B4D9-5D35-E38E-8CC4-6C0F07E3D583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4A4E1-65DD-3822-DD9F-A5B76EBF83A3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43F58-C04B-17DD-5A8F-6337F66CF2AD}"/>
              </a:ext>
            </a:extLst>
          </p:cNvPr>
          <p:cNvSpPr txBox="1"/>
          <p:nvPr/>
        </p:nvSpPr>
        <p:spPr>
          <a:xfrm>
            <a:off x="209384" y="23304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IN" dirty="0"/>
              <a:t>A is symmetric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B) </a:t>
            </a:r>
            <a:r>
              <a:rPr lang="en-IN" dirty="0"/>
              <a:t>A is skew-symmetric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IN" dirty="0"/>
              <a:t>A is diagonal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D) </a:t>
            </a:r>
            <a:r>
              <a:rPr lang="en-IN" dirty="0"/>
              <a:t>A is scalar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A7A0DA-F010-766B-3063-B00BEB196F61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0B5138-67ED-A19E-0103-606E1AE9FAED}"/>
              </a:ext>
            </a:extLst>
          </p:cNvPr>
          <p:cNvSpPr txBox="1"/>
          <p:nvPr/>
        </p:nvSpPr>
        <p:spPr>
          <a:xfrm>
            <a:off x="8324238" y="6318570"/>
            <a:ext cx="3867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IN" b="1" dirty="0"/>
              <a:t>A is skew-symmetric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7B6A5-7B24-BC13-7F56-208893D8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14" t="50000"/>
          <a:stretch>
            <a:fillRect/>
          </a:stretch>
        </p:blipFill>
        <p:spPr>
          <a:xfrm>
            <a:off x="918790" y="1311569"/>
            <a:ext cx="3441368" cy="495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59480-F087-94CB-1955-B56299823812}"/>
              </a:ext>
            </a:extLst>
          </p:cNvPr>
          <p:cNvSpPr txBox="1"/>
          <p:nvPr/>
        </p:nvSpPr>
        <p:spPr>
          <a:xfrm>
            <a:off x="335280" y="1852510"/>
            <a:ext cx="367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statement is correct?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EB566F-0B1B-3A46-B792-9D9D5B7EE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2638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8B82-BF13-C40C-2990-6F56A7FF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9A2172-B3DE-86B0-F024-2C7005B0914E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23D0B-D6CD-6939-3909-C1B9803CF9B6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Formation and Basic of Matrix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0357B-5FBE-D7A1-466E-758795AA6F66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0E083-0686-1A00-528C-995797888BE1}"/>
              </a:ext>
            </a:extLst>
          </p:cNvPr>
          <p:cNvSpPr txBox="1"/>
          <p:nvPr/>
        </p:nvSpPr>
        <p:spPr>
          <a:xfrm>
            <a:off x="257070" y="21714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Identity matrix              B) Scalar matrix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Null matrix                     D) Diagonal matrix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8EB6DD-F4E9-6AB1-5163-556592B9276E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DCBC57E-0124-2E62-A4D3-9579C96F04CD}"/>
              </a:ext>
            </a:extLst>
          </p:cNvPr>
          <p:cNvSpPr txBox="1"/>
          <p:nvPr/>
        </p:nvSpPr>
        <p:spPr>
          <a:xfrm>
            <a:off x="8950964" y="6296939"/>
            <a:ext cx="303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C) Null matrix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F22A4-FA3B-D4FE-70B2-1B7C70D0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22" t="21455"/>
          <a:stretch>
            <a:fillRect/>
          </a:stretch>
        </p:blipFill>
        <p:spPr>
          <a:xfrm>
            <a:off x="961551" y="1010043"/>
            <a:ext cx="2381515" cy="10846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FCD85D-23A3-3157-6962-51C1871DF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508"/>
          <a:stretch>
            <a:fillRect/>
          </a:stretch>
        </p:blipFill>
        <p:spPr>
          <a:xfrm>
            <a:off x="2914727" y="1293698"/>
            <a:ext cx="1804806" cy="472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A79E91-B7EA-A624-43DC-CB8B8DEB07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7660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D732-209E-8C5E-066D-52E0186F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6B52E9A-E491-F17C-F889-CA1E74704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62323-5FF9-6C03-84AC-E472952ACAC7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CB19F-1E3E-54BC-ADF3-636E6B869620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358AE-30C4-F8AD-69A6-41FFBC4AA4E8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1B4220-896A-4A33-2CBE-8493734B84D6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C1AE39-E5FE-DE96-EC66-589D3656BCD7}"/>
              </a:ext>
            </a:extLst>
          </p:cNvPr>
          <p:cNvSpPr txBox="1"/>
          <p:nvPr/>
        </p:nvSpPr>
        <p:spPr>
          <a:xfrm>
            <a:off x="9396735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37E09-495F-0E9E-6220-FCD42592C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69" b="9279"/>
          <a:stretch>
            <a:fillRect/>
          </a:stretch>
        </p:blipFill>
        <p:spPr>
          <a:xfrm>
            <a:off x="899617" y="1126904"/>
            <a:ext cx="1980087" cy="8185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3C9EB-649E-A133-18D0-3B621CFCA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873" y="1123881"/>
            <a:ext cx="2296538" cy="6463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858E82-14CE-B4DB-6823-C4C8F154E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91" y="1945414"/>
            <a:ext cx="1431169" cy="8185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2E69EA-6881-2C1F-980D-D58C905D9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753" y="1945414"/>
            <a:ext cx="1562685" cy="8454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63AE52-5240-8CE8-99B2-3A2D5497E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326" y="2879460"/>
            <a:ext cx="1513521" cy="8454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FAA1D99-8C62-EDF0-751E-A5CC3DD7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9593" y="2763924"/>
            <a:ext cx="1715582" cy="10765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1C6973-66D7-C2BA-E92D-42230C24B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613" y="5897515"/>
            <a:ext cx="1431169" cy="8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9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1715-B998-C35B-79B0-049DAF15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4326C7E-CF93-6438-18C9-0FD5473DD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EFB68F-9A5E-3F39-6638-69C6B68BF756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278AE-22F2-0E33-112B-D0670BC33286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95328-C3BE-640E-F95C-014A01F73B15}"/>
              </a:ext>
            </a:extLst>
          </p:cNvPr>
          <p:cNvSpPr txBox="1"/>
          <p:nvPr/>
        </p:nvSpPr>
        <p:spPr>
          <a:xfrm>
            <a:off x="209384" y="1264241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3A726A-56B6-F17E-0107-982BC64B7E78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85B84B-3CF9-74DF-A120-862044800DD7}"/>
              </a:ext>
            </a:extLst>
          </p:cNvPr>
          <p:cNvSpPr txBox="1"/>
          <p:nvPr/>
        </p:nvSpPr>
        <p:spPr>
          <a:xfrm>
            <a:off x="930824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FCACC9-C02F-7BFC-FD78-DFC02FE78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22" y="1013547"/>
            <a:ext cx="3132091" cy="815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5EA237-11B2-379B-2377-51648E525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611" y="1227908"/>
            <a:ext cx="1600339" cy="441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E37685-8394-D7CD-3510-43D62B86C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13" y="1855464"/>
            <a:ext cx="1219306" cy="2819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0F024B-199A-2A67-77A6-3EA957D6F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2825" y="1855464"/>
            <a:ext cx="1219306" cy="3657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4CEB5B-72FE-6B76-0E1F-71FD6B92E1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32" y="2163934"/>
            <a:ext cx="899238" cy="381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B0CAB1-0B92-B8EA-245B-EF034556BF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3280" y="2247762"/>
            <a:ext cx="960203" cy="3581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38DC94-1792-986D-9674-403607E14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4543" y="6296939"/>
            <a:ext cx="1219306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4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C7EF-97BD-392E-E377-0133D68C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0CA20A6-E83E-84E1-ABE5-7DD565441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64821E-CADC-90F1-E80B-198A2496E8E1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EA649-3271-AB2A-F1F6-BEFE9113AC04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676E6-0144-DA04-AEE3-5F712745D28C}"/>
              </a:ext>
            </a:extLst>
          </p:cNvPr>
          <p:cNvSpPr txBox="1"/>
          <p:nvPr/>
        </p:nvSpPr>
        <p:spPr>
          <a:xfrm>
            <a:off x="209384" y="137457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6EBFB-34D2-DDC6-4CE5-2AC2088CCDB5}"/>
              </a:ext>
            </a:extLst>
          </p:cNvPr>
          <p:cNvSpPr txBox="1"/>
          <p:nvPr/>
        </p:nvSpPr>
        <p:spPr>
          <a:xfrm>
            <a:off x="445358" y="25151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10                         B) 01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00                         D) 11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BFF8DD-66BE-B9D1-6125-945222A02B3A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C76E7E-80A1-6987-C491-45ECA373B62D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C) 00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CEDF22-055C-578B-AEB4-C3E41DAB3E69}"/>
                  </a:ext>
                </a:extLst>
              </p:cNvPr>
              <p:cNvSpPr txBox="1"/>
              <p:nvPr/>
            </p:nvSpPr>
            <p:spPr>
              <a:xfrm>
                <a:off x="631723" y="1182159"/>
                <a:ext cx="6096000" cy="145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3×3</m:t>
                        </m:r>
                      </m:sub>
                    </m:sSub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CEDF22-055C-578B-AEB4-C3E41DAB3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23" y="1182159"/>
                <a:ext cx="6096000" cy="1458476"/>
              </a:xfrm>
              <a:prstGeom prst="rect">
                <a:avLst/>
              </a:prstGeom>
              <a:blipFill>
                <a:blip r:embed="rId3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5D0E9848-19B1-40A5-58B0-41C23A9C00DF}"/>
              </a:ext>
            </a:extLst>
          </p:cNvPr>
          <p:cNvSpPr txBox="1"/>
          <p:nvPr/>
        </p:nvSpPr>
        <p:spPr>
          <a:xfrm>
            <a:off x="395749" y="820577"/>
            <a:ext cx="4176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2022 (07 Aug Shift 1)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44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7275-C612-C82C-81F7-A580D6EC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083968-0FE8-677D-3316-3CFB2DAF667F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0AF41-8A38-D5F4-CADE-18419AA6DCDF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Basic Algebra of Matrices</a:t>
            </a:r>
            <a:endParaRPr lang="en-IN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F8AB9-1D15-CFC7-CA52-E32EEE69A7CA}"/>
              </a:ext>
            </a:extLst>
          </p:cNvPr>
          <p:cNvSpPr txBox="1"/>
          <p:nvPr/>
        </p:nvSpPr>
        <p:spPr>
          <a:xfrm>
            <a:off x="189720" y="132074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5E2FDC-C841-CE29-D0BF-86726CB13E1B}"/>
              </a:ext>
            </a:extLst>
          </p:cNvPr>
          <p:cNvSpPr txBox="1"/>
          <p:nvPr/>
        </p:nvSpPr>
        <p:spPr>
          <a:xfrm>
            <a:off x="445358" y="192459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All diagonal elements are 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All diagonal elements are 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is a symmetric matrix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det(A) = 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1FD56C-AAE5-411B-0695-2507D6BF9D3C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3AB9415-0270-4A46-DB38-7C98FD4CC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7F2294-424D-7714-90F2-9B3F1C7A6371}"/>
              </a:ext>
            </a:extLst>
          </p:cNvPr>
          <p:cNvSpPr txBox="1"/>
          <p:nvPr/>
        </p:nvSpPr>
        <p:spPr>
          <a:xfrm>
            <a:off x="558935" y="1239717"/>
            <a:ext cx="5167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is a 3 × 3 matrix and Aᵀ = −A, which of the following must be true?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F2569-529B-7BC0-F3A9-EF686C8666A1}"/>
              </a:ext>
            </a:extLst>
          </p:cNvPr>
          <p:cNvSpPr txBox="1"/>
          <p:nvPr/>
        </p:nvSpPr>
        <p:spPr>
          <a:xfrm>
            <a:off x="8780207" y="6296939"/>
            <a:ext cx="3411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B) All diagonal elements are 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47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70CA-30F6-1DFE-68C0-C754E90B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B0FA4FF-4A38-30AF-A6BC-D7D0FD740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B5B643-4658-4453-D694-89FF2386C635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818CD-384D-9814-1386-EAB49CCF005B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5BA19-0D6D-0297-64BF-428E29C5C6A5}"/>
              </a:ext>
            </a:extLst>
          </p:cNvPr>
          <p:cNvSpPr txBox="1"/>
          <p:nvPr/>
        </p:nvSpPr>
        <p:spPr>
          <a:xfrm>
            <a:off x="209384" y="1187762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D6553-84A5-48F2-69F9-E27C04E6618C}"/>
              </a:ext>
            </a:extLst>
          </p:cNvPr>
          <p:cNvSpPr txBox="1"/>
          <p:nvPr/>
        </p:nvSpPr>
        <p:spPr>
          <a:xfrm>
            <a:off x="545133" y="1822395"/>
            <a:ext cx="3222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 0                            B) I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2I                          D)  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18E049-81BA-EEC1-CA38-3192F60660AE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295356-7A2F-ABB9-6487-886CB401E460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 0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1116EE-E033-D929-CD7C-AEF79B42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88" y="782802"/>
            <a:ext cx="2079186" cy="1039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108B47-307D-CF91-F64B-4FAAA94DA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219" y="1049262"/>
            <a:ext cx="2365297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80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CD8E-DC5D-CC53-D03A-076F1B2B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B7D083D-9D04-A97F-BA14-A76A9DBC015B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AC875-A9E1-10B9-BBB2-19D19146888A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Basic Algebra of Matrices</a:t>
            </a:r>
            <a:endParaRPr lang="en-IN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3D14D-6B3E-289E-182E-6E6F88969CE7}"/>
              </a:ext>
            </a:extLst>
          </p:cNvPr>
          <p:cNvSpPr txBox="1"/>
          <p:nvPr/>
        </p:nvSpPr>
        <p:spPr>
          <a:xfrm>
            <a:off x="209384" y="1048829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439B90-239B-DABB-FDC8-F9FF23921237}"/>
              </a:ext>
            </a:extLst>
          </p:cNvPr>
          <p:cNvSpPr txBox="1"/>
          <p:nvPr/>
        </p:nvSpPr>
        <p:spPr>
          <a:xfrm>
            <a:off x="445356" y="25025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B)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                    D)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BE60B4-D07B-8284-0A95-F72585A9C4CF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85A07-2B9C-792F-00A5-833B60604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17B78B-E0F4-E7A2-362A-BA34F5094CBF}"/>
              </a:ext>
            </a:extLst>
          </p:cNvPr>
          <p:cNvSpPr txBox="1"/>
          <p:nvPr/>
        </p:nvSpPr>
        <p:spPr>
          <a:xfrm>
            <a:off x="10296519" y="6055638"/>
            <a:ext cx="55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90F5D-F17B-6029-7B86-612B0450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11" y="965317"/>
            <a:ext cx="1355226" cy="9056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CBD724-1449-4F8F-7AC2-2A9C88F57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202" y="1031956"/>
            <a:ext cx="2324301" cy="9297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3394E10-81A2-BF2E-04CA-492CA9371FA3}"/>
              </a:ext>
            </a:extLst>
          </p:cNvPr>
          <p:cNvSpPr txBox="1"/>
          <p:nvPr/>
        </p:nvSpPr>
        <p:spPr>
          <a:xfrm>
            <a:off x="961551" y="19173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X is: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4110C0-424D-5034-9794-A855B9E16D70}"/>
              </a:ext>
            </a:extLst>
          </p:cNvPr>
          <p:cNvSpPr txBox="1"/>
          <p:nvPr/>
        </p:nvSpPr>
        <p:spPr>
          <a:xfrm>
            <a:off x="2410290" y="12815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87FE76-A510-5A30-80FF-5EAB662D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550" y="2318024"/>
            <a:ext cx="800169" cy="7773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CB9965-2CBD-43B2-D48B-4FF108875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8152" y="2303527"/>
            <a:ext cx="815411" cy="8230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059A316-CFF9-4369-3BD7-F9048F89DB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205" y="3211920"/>
            <a:ext cx="853514" cy="6858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52A744-1818-6D66-1A11-945CB34053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3394" y="3130660"/>
            <a:ext cx="800169" cy="73920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5D4340-6791-9267-CE9F-307EA0A52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0029" y="5851651"/>
            <a:ext cx="800169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3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445CA-5BD1-6CFE-3D62-92A3DCB1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D433FE7-D835-1523-7B33-5202A7466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C8C14-BA83-BAFF-4430-A190673069DF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2F47F-CE4B-42D1-B51B-6C5689B9D81B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193610-BB63-490B-B6DC-A7CDC99A812D}"/>
              </a:ext>
            </a:extLst>
          </p:cNvPr>
          <p:cNvSpPr txBox="1"/>
          <p:nvPr/>
        </p:nvSpPr>
        <p:spPr>
          <a:xfrm>
            <a:off x="209384" y="1234377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4CF626-75E0-DE39-D7F5-616029818D2D}"/>
              </a:ext>
            </a:extLst>
          </p:cNvPr>
          <p:cNvSpPr txBox="1"/>
          <p:nvPr/>
        </p:nvSpPr>
        <p:spPr>
          <a:xfrm>
            <a:off x="465022" y="1982009"/>
            <a:ext cx="3035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                          B) -1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0.5                      D)  -0.5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42FED7-FCAB-FA98-BAF2-780BDB5B1494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16C6B6F-4300-7720-092C-8E889F615E9F}"/>
              </a:ext>
            </a:extLst>
          </p:cNvPr>
          <p:cNvSpPr txBox="1"/>
          <p:nvPr/>
        </p:nvSpPr>
        <p:spPr>
          <a:xfrm>
            <a:off x="10134154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D)-0.5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9977B-E0E3-E93F-6968-831C5BCB5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27" y="854053"/>
            <a:ext cx="2391614" cy="1050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8DAE0-49AD-B1B6-BB57-2D54919D6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867" y="1093254"/>
            <a:ext cx="2306582" cy="65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4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240C-C604-F87B-AB92-8510F9D8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459994-13E3-A768-D039-BCF45C216909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AF56B-EDEC-BDA7-A871-3E78A9DEEC69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Basic Algebra of Matrices</a:t>
            </a:r>
            <a:endParaRPr lang="en-IN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7801B-6CE1-BD66-79D2-1C7189751F0B}"/>
              </a:ext>
            </a:extLst>
          </p:cNvPr>
          <p:cNvSpPr txBox="1"/>
          <p:nvPr/>
        </p:nvSpPr>
        <p:spPr>
          <a:xfrm>
            <a:off x="189720" y="132074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CCBE8-BD75-E45D-0E5A-B78974D7FECF}"/>
              </a:ext>
            </a:extLst>
          </p:cNvPr>
          <p:cNvSpPr txBox="1"/>
          <p:nvPr/>
        </p:nvSpPr>
        <p:spPr>
          <a:xfrm>
            <a:off x="484686" y="23765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-09                       B)  -12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-10                      D)  -13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D06334-3E49-C60E-EF3B-B5022F1002DF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79C09AF-1419-167F-DDA6-3D01B9CE8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AABC7E-A14A-A6BF-4730-2E52AECFB627}"/>
              </a:ext>
            </a:extLst>
          </p:cNvPr>
          <p:cNvSpPr txBox="1"/>
          <p:nvPr/>
        </p:nvSpPr>
        <p:spPr>
          <a:xfrm>
            <a:off x="11068217" y="6365765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D) -13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8EEA3-1BF2-41F9-E434-66AAE298A00D}"/>
                  </a:ext>
                </a:extLst>
              </p:cNvPr>
              <p:cNvSpPr txBox="1"/>
              <p:nvPr/>
            </p:nvSpPr>
            <p:spPr>
              <a:xfrm>
                <a:off x="556975" y="1045557"/>
                <a:ext cx="5558133" cy="1378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Let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−21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is the identity matrix of order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 equal to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8EEA3-1BF2-41F9-E434-66AAE298A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75" y="1045557"/>
                <a:ext cx="5558133" cy="1378967"/>
              </a:xfrm>
              <a:prstGeom prst="rect">
                <a:avLst/>
              </a:prstGeom>
              <a:blipFill>
                <a:blip r:embed="rId3"/>
                <a:stretch>
                  <a:fillRect l="-877" r="-439" b="-66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08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EAFB-FE34-0974-C1B0-CD542AED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00403BB-CFD1-440E-9C6D-C05F53FD3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67F826-B8D9-37A6-B041-5110B3D49550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3BA25-B1CE-2ED1-BCE7-782A0715A28D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AF180-886E-0FED-4A9D-F789F481A4B8}"/>
              </a:ext>
            </a:extLst>
          </p:cNvPr>
          <p:cNvSpPr txBox="1"/>
          <p:nvPr/>
        </p:nvSpPr>
        <p:spPr>
          <a:xfrm>
            <a:off x="209384" y="967468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178E8-5D7C-FB1F-5C8D-535A3804A2B4}"/>
              </a:ext>
            </a:extLst>
          </p:cNvPr>
          <p:cNvSpPr txBox="1"/>
          <p:nvPr/>
        </p:nvSpPr>
        <p:spPr>
          <a:xfrm>
            <a:off x="445356" y="2155437"/>
            <a:ext cx="632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638892-5A31-F9B3-AA20-926B42F26A6C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98B158-0260-8DFC-9D76-397007DDC84E}"/>
              </a:ext>
            </a:extLst>
          </p:cNvPr>
          <p:cNvSpPr txBox="1"/>
          <p:nvPr/>
        </p:nvSpPr>
        <p:spPr>
          <a:xfrm>
            <a:off x="9219851" y="6196680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0D732E-0FE2-D2C2-F98E-4A5A61C5A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37" y="1623384"/>
            <a:ext cx="1574222" cy="4125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F0A3C89-F0E6-B27B-6B6C-0EC533D11B4E}"/>
              </a:ext>
            </a:extLst>
          </p:cNvPr>
          <p:cNvSpPr txBox="1"/>
          <p:nvPr/>
        </p:nvSpPr>
        <p:spPr>
          <a:xfrm>
            <a:off x="2850174" y="2124786"/>
            <a:ext cx="42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55900-DCF1-8C4A-8764-5ABD010A781E}"/>
              </a:ext>
            </a:extLst>
          </p:cNvPr>
          <p:cNvSpPr txBox="1"/>
          <p:nvPr/>
        </p:nvSpPr>
        <p:spPr>
          <a:xfrm>
            <a:off x="440441" y="3000807"/>
            <a:ext cx="521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66BDC9-F95D-A77F-4C61-A1A564E9337A}"/>
              </a:ext>
            </a:extLst>
          </p:cNvPr>
          <p:cNvSpPr txBox="1"/>
          <p:nvPr/>
        </p:nvSpPr>
        <p:spPr>
          <a:xfrm>
            <a:off x="2850174" y="3039242"/>
            <a:ext cx="465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B53A58-B5CA-489D-FDE5-2E4DA684369C}"/>
                  </a:ext>
                </a:extLst>
              </p:cNvPr>
              <p:cNvSpPr txBox="1"/>
              <p:nvPr/>
            </p:nvSpPr>
            <p:spPr>
              <a:xfrm>
                <a:off x="623937" y="888221"/>
                <a:ext cx="5383572" cy="829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the inverse of the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is:</a:t>
                </a:r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B53A58-B5CA-489D-FDE5-2E4DA684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37" y="888221"/>
                <a:ext cx="5383572" cy="829458"/>
              </a:xfrm>
              <a:prstGeom prst="rect">
                <a:avLst/>
              </a:prstGeom>
              <a:blipFill>
                <a:blip r:embed="rId4"/>
                <a:stretch>
                  <a:fillRect l="-906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EAFE955F-F187-B201-4458-BAF8385C2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74" y="1992476"/>
            <a:ext cx="1310689" cy="92073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17A21DB-1DDB-EC37-7F97-FFCA0191F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5723" y="1879104"/>
            <a:ext cx="1310688" cy="91860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6EBE236-47BB-6BB5-771F-8FCCC541F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787" y="2802411"/>
            <a:ext cx="1310687" cy="9207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1199BD4-5F0E-49D3-1162-93D6F25C8C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9889" y="2797706"/>
            <a:ext cx="1414113" cy="85856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CE13131-1902-E789-8D0F-7BECABEF3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8355" y="5892594"/>
            <a:ext cx="1310688" cy="91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5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C0CE-D9CF-7EF3-DF8B-9DC0B2D2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AC67A3B-7DC8-E7CE-43D3-11C75F8F1B39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9E0E9-34E2-AD86-E970-306F4BE8415C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Basic Algebra of Matrices</a:t>
            </a:r>
            <a:endParaRPr lang="en-IN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27915-DF4B-0024-09E0-8365065EB9B1}"/>
              </a:ext>
            </a:extLst>
          </p:cNvPr>
          <p:cNvSpPr txBox="1"/>
          <p:nvPr/>
        </p:nvSpPr>
        <p:spPr>
          <a:xfrm>
            <a:off x="209384" y="1090000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D1A91-DF92-6BCE-5E03-7B4C42E4F635}"/>
              </a:ext>
            </a:extLst>
          </p:cNvPr>
          <p:cNvSpPr txBox="1"/>
          <p:nvPr/>
        </p:nvSpPr>
        <p:spPr>
          <a:xfrm>
            <a:off x="445358" y="176603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                           B) </a:t>
            </a:r>
          </a:p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D)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9AC6D7-38EA-2F05-6A73-E6C80E4D96E8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A15119-77ED-C563-B773-A45EB8C24C89}"/>
              </a:ext>
            </a:extLst>
          </p:cNvPr>
          <p:cNvSpPr txBox="1"/>
          <p:nvPr/>
        </p:nvSpPr>
        <p:spPr>
          <a:xfrm>
            <a:off x="9416399" y="629693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0C2600-5FEA-1DBA-AF38-5AF986A23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5E944E-3FBB-4943-93E5-BA30EA42E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51" y="965317"/>
            <a:ext cx="1406412" cy="6706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5B91737-988C-F2C3-DB7C-5FD29BE84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86" y="965317"/>
            <a:ext cx="3184758" cy="6522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94907F-6FB9-EA12-B031-8B5F4C934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28" y="1592398"/>
            <a:ext cx="1219306" cy="8077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97D4292-A94E-1225-4D95-85A3319DC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956" y="1592398"/>
            <a:ext cx="1104996" cy="8154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5A8C6C-52E7-35C3-9ADB-31B2E9923C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4" y="2397730"/>
            <a:ext cx="1104993" cy="10852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0553BC-2326-57D8-3FC5-AD9C7A0D8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1368" y="2407809"/>
            <a:ext cx="1215365" cy="9656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CC9987D-9427-514E-C647-0473CAE4C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416" y="5964084"/>
            <a:ext cx="1219306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6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93D22-7340-E7C3-E1CE-EEA7BE36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3188062-70E0-CF3C-4C19-A4A2E05BF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AAC0F6-1A4B-5239-4F86-3FA81F1DBD5A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16C13-00DA-66E2-DC7F-02A3CCD54C39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36641F-6D22-9B0F-F517-06B2160C6304}"/>
              </a:ext>
            </a:extLst>
          </p:cNvPr>
          <p:cNvSpPr txBox="1"/>
          <p:nvPr/>
        </p:nvSpPr>
        <p:spPr>
          <a:xfrm>
            <a:off x="209384" y="1181351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DE50A1-05EA-B508-297E-E418AE4C1E89}"/>
                  </a:ext>
                </a:extLst>
              </p:cNvPr>
              <p:cNvSpPr txBox="1"/>
              <p:nvPr/>
            </p:nvSpPr>
            <p:spPr>
              <a:xfrm>
                <a:off x="445358" y="2321887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B)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𝐴𝐵</m:t>
                    </m:r>
                    <m:sSup>
                      <m:sSup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b="1" i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b="1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b="1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D)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𝐴𝐵𝐴</m:t>
                    </m:r>
                  </m:oMath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DE50A1-05EA-B508-297E-E418AE4C1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8" y="2321887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 l="-800" t="-566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1A6B10-24FE-9F50-A29C-F08C15736F0B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7A4DC4-B073-4739-DE0D-206C2CCCE07C}"/>
                  </a:ext>
                </a:extLst>
              </p:cNvPr>
              <p:cNvSpPr txBox="1"/>
              <p:nvPr/>
            </p:nvSpPr>
            <p:spPr>
              <a:xfrm>
                <a:off x="9508016" y="6296939"/>
                <a:ext cx="24746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b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7A4DC4-B073-4739-DE0D-206C2CCCE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016" y="6296939"/>
                <a:ext cx="2474602" cy="369332"/>
              </a:xfrm>
              <a:prstGeom prst="rect">
                <a:avLst/>
              </a:prstGeom>
              <a:blipFill>
                <a:blip r:embed="rId4"/>
                <a:stretch>
                  <a:fillRect l="-2217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61B9EDF-C76E-26A7-5F20-77C593B43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65" y="888221"/>
            <a:ext cx="1782721" cy="9476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95F81C-2E30-EFA1-01E5-CE7BA621D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850" y="1110184"/>
            <a:ext cx="1520033" cy="5037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C50A64-C718-4815-8D8E-EC99CE8AE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8827" y="932997"/>
            <a:ext cx="1618373" cy="9028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F7AA13-89EB-A61D-56AA-5BF2215B86DA}"/>
              </a:ext>
            </a:extLst>
          </p:cNvPr>
          <p:cNvSpPr txBox="1"/>
          <p:nvPr/>
        </p:nvSpPr>
        <p:spPr>
          <a:xfrm>
            <a:off x="455908" y="1778422"/>
            <a:ext cx="1425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X is</a:t>
            </a:r>
          </a:p>
        </p:txBody>
      </p:sp>
    </p:spTree>
    <p:extLst>
      <p:ext uri="{BB962C8B-B14F-4D97-AF65-F5344CB8AC3E}">
        <p14:creationId xmlns:p14="http://schemas.microsoft.com/office/powerpoint/2010/main" val="347159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9D831-A103-78A1-1C61-10F19031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20464DD-B087-553C-DDAC-E6D537AB2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DC8C34-9653-6649-842E-2211C4DB85D3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BFA5C-EB9A-1A09-2F2B-35B98A5369D4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C59E1-E94F-F9AF-949C-FBA4603A66E5}"/>
              </a:ext>
            </a:extLst>
          </p:cNvPr>
          <p:cNvSpPr txBox="1"/>
          <p:nvPr/>
        </p:nvSpPr>
        <p:spPr>
          <a:xfrm>
            <a:off x="193761" y="1117002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75F51-B733-9C7A-F03F-3A644C77FC22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E319947-374C-52CB-8C9C-4367D22A6632}"/>
              </a:ext>
            </a:extLst>
          </p:cNvPr>
          <p:cNvSpPr txBox="1"/>
          <p:nvPr/>
        </p:nvSpPr>
        <p:spPr>
          <a:xfrm>
            <a:off x="249059" y="2051641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45D21-A752-F3D3-AB73-3AA726CBD687}"/>
              </a:ext>
            </a:extLst>
          </p:cNvPr>
          <p:cNvSpPr txBox="1"/>
          <p:nvPr/>
        </p:nvSpPr>
        <p:spPr>
          <a:xfrm>
            <a:off x="2875956" y="21545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46C53B-7615-BB50-36A6-8B3A7CE0235B}"/>
              </a:ext>
            </a:extLst>
          </p:cNvPr>
          <p:cNvSpPr txBox="1"/>
          <p:nvPr/>
        </p:nvSpPr>
        <p:spPr>
          <a:xfrm>
            <a:off x="292873" y="2829408"/>
            <a:ext cx="529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2EC4FA-6392-C031-3C11-EB6CB41AC03B}"/>
              </a:ext>
            </a:extLst>
          </p:cNvPr>
          <p:cNvSpPr txBox="1"/>
          <p:nvPr/>
        </p:nvSpPr>
        <p:spPr>
          <a:xfrm>
            <a:off x="2872196" y="3078717"/>
            <a:ext cx="590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629E095-D1FC-5C32-CC0D-97691FF3099D}"/>
                  </a:ext>
                </a:extLst>
              </p:cNvPr>
              <p:cNvSpPr txBox="1"/>
              <p:nvPr/>
            </p:nvSpPr>
            <p:spPr>
              <a:xfrm>
                <a:off x="630402" y="888221"/>
                <a:ext cx="6096000" cy="1101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629E095-D1FC-5C32-CC0D-97691FF30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02" y="888221"/>
                <a:ext cx="6096000" cy="1101968"/>
              </a:xfrm>
              <a:prstGeom prst="rect">
                <a:avLst/>
              </a:prstGeom>
              <a:blipFill>
                <a:blip r:embed="rId3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F80E0AB0-9FD7-1C4C-FDCC-53FACF042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34" y="1855704"/>
            <a:ext cx="1621757" cy="9671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05C8C38-0DC5-99A3-CAB4-4AA0314E8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667" y="1788271"/>
            <a:ext cx="1803233" cy="110196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14C4258-DBE6-DF40-0E88-9C7767DA0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40" y="2779831"/>
            <a:ext cx="1704726" cy="96710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27D1CC0-18A3-1228-6C3B-147325B3F6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706"/>
          <a:stretch>
            <a:fillRect/>
          </a:stretch>
        </p:blipFill>
        <p:spPr>
          <a:xfrm>
            <a:off x="3631120" y="2890239"/>
            <a:ext cx="1803233" cy="123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19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EC3A9-7484-9A6B-3E97-92376445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5F766E3-86DB-F15B-0C7D-BB7DD8A2A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19BB2B-EC31-61F9-ED72-C3333079EFBB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CFB43-52B2-10B0-4D19-DFC2B36E5274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B3B967-3E73-0CFA-F0A1-CA240340381B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29B61D-0DBE-0836-FD71-620747962045}"/>
              </a:ext>
            </a:extLst>
          </p:cNvPr>
          <p:cNvSpPr txBox="1"/>
          <p:nvPr/>
        </p:nvSpPr>
        <p:spPr>
          <a:xfrm>
            <a:off x="8728141" y="6181099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B8C69C-9940-744C-DB54-AD4C64E9B885}"/>
                  </a:ext>
                </a:extLst>
              </p:cNvPr>
              <p:cNvSpPr txBox="1"/>
              <p:nvPr/>
            </p:nvSpPr>
            <p:spPr>
              <a:xfrm>
                <a:off x="714851" y="965317"/>
                <a:ext cx="6096000" cy="1101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B8C69C-9940-744C-DB54-AD4C64E9B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51" y="965317"/>
                <a:ext cx="6096000" cy="1101968"/>
              </a:xfrm>
              <a:prstGeom prst="rect">
                <a:avLst/>
              </a:prstGeom>
              <a:blipFill>
                <a:blip r:embed="rId3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>
            <a:extLst>
              <a:ext uri="{FF2B5EF4-FFF2-40B4-BE49-F238E27FC236}">
                <a16:creationId xmlns:a16="http://schemas.microsoft.com/office/drawing/2014/main" id="{E020A952-DAAE-A011-6976-02D3A9C6F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86" y="5882214"/>
            <a:ext cx="1621757" cy="96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3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BF17-3CBB-4382-E5AF-A313ECC4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1F123C0-D962-4654-6828-91565C44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05D9D-5FB7-BA41-A36D-5D7F2EC9BE47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7E380-BDF5-6AAF-5EF0-A3FD851CB7D7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4F83D4-A71C-1E34-BD9C-36C26B001BE3}"/>
              </a:ext>
            </a:extLst>
          </p:cNvPr>
          <p:cNvSpPr txBox="1"/>
          <p:nvPr/>
        </p:nvSpPr>
        <p:spPr>
          <a:xfrm>
            <a:off x="234845" y="1767865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57C3BD-863F-E6BC-2567-37C78774D779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921E5B-03A2-BAAD-2D00-A3FB62498885}"/>
              </a:ext>
            </a:extLst>
          </p:cNvPr>
          <p:cNvSpPr txBox="1"/>
          <p:nvPr/>
        </p:nvSpPr>
        <p:spPr>
          <a:xfrm>
            <a:off x="296638" y="3021167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ACF1F-B3E1-432D-90B5-9C6244D436D1}"/>
              </a:ext>
            </a:extLst>
          </p:cNvPr>
          <p:cNvSpPr txBox="1"/>
          <p:nvPr/>
        </p:nvSpPr>
        <p:spPr>
          <a:xfrm>
            <a:off x="2857332" y="26024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AF8793-FE4A-0D6A-8809-0DFE1167092A}"/>
              </a:ext>
            </a:extLst>
          </p:cNvPr>
          <p:cNvSpPr txBox="1"/>
          <p:nvPr/>
        </p:nvSpPr>
        <p:spPr>
          <a:xfrm>
            <a:off x="303133" y="4408330"/>
            <a:ext cx="529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C7983D-694F-5E58-35E0-BFCB963A7084}"/>
              </a:ext>
            </a:extLst>
          </p:cNvPr>
          <p:cNvSpPr txBox="1"/>
          <p:nvPr/>
        </p:nvSpPr>
        <p:spPr>
          <a:xfrm>
            <a:off x="2882793" y="4319405"/>
            <a:ext cx="590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23B113-9215-568E-16F7-9E9C2F21A702}"/>
                  </a:ext>
                </a:extLst>
              </p:cNvPr>
              <p:cNvSpPr txBox="1"/>
              <p:nvPr/>
            </p:nvSpPr>
            <p:spPr>
              <a:xfrm>
                <a:off x="826001" y="1419932"/>
                <a:ext cx="4698738" cy="1108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;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i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_______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23B113-9215-568E-16F7-9E9C2F21A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1" y="1419932"/>
                <a:ext cx="4698738" cy="1108124"/>
              </a:xfrm>
              <a:prstGeom prst="rect">
                <a:avLst/>
              </a:prstGeom>
              <a:blipFill>
                <a:blip r:embed="rId3"/>
                <a:stretch>
                  <a:fillRect l="-1038" b="-8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0162069-8CDE-3FF3-0430-886D93671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66" y="2666477"/>
            <a:ext cx="1475728" cy="1209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76E5B9-9E9E-5E78-1D24-71AA45C7C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856" y="2616857"/>
            <a:ext cx="1320163" cy="12696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00F617-6B13-EF42-4140-79E3124F8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42" y="4119024"/>
            <a:ext cx="1475726" cy="14757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B92127-E6C1-C4D3-012B-E75A135054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856" y="4019746"/>
            <a:ext cx="1475724" cy="157500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1C0829C-A669-9FD9-F28F-641B70C7C5E5}"/>
              </a:ext>
            </a:extLst>
          </p:cNvPr>
          <p:cNvSpPr txBox="1"/>
          <p:nvPr/>
        </p:nvSpPr>
        <p:spPr>
          <a:xfrm>
            <a:off x="303133" y="9939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2026 (17 April Shift 2)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268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4067-8B67-275C-C6B5-1FA304F3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3753FAF-620F-C11C-776B-E43674C12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F7142-DD38-1FD5-172F-7EAB4E728DA8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53DAD-5BC2-DFD1-3A23-FB0464EE5FE5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FB6C2C-970D-FCD5-2968-8180BD19F171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C23819-ABB5-D891-573A-B77CB1629CE3}"/>
              </a:ext>
            </a:extLst>
          </p:cNvPr>
          <p:cNvSpPr txBox="1"/>
          <p:nvPr/>
        </p:nvSpPr>
        <p:spPr>
          <a:xfrm>
            <a:off x="9020201" y="6277275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00A1A-915C-B5CF-287E-5E79F26E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889" y="5560030"/>
            <a:ext cx="1475728" cy="120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7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461E8-AF57-FE5E-8CA4-B59F022E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02817A2-08E7-605E-10B4-5100EAEE3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F30B2C-987D-266E-A6E3-E286905564A1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DE1EB-099A-9815-91B1-AED1F0E85D23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7EEC7-183E-071A-D9ED-4834D6F1C07F}"/>
              </a:ext>
            </a:extLst>
          </p:cNvPr>
          <p:cNvSpPr txBox="1"/>
          <p:nvPr/>
        </p:nvSpPr>
        <p:spPr>
          <a:xfrm>
            <a:off x="209384" y="102780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C23DC1-0557-0469-453E-7656FF178E05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9D311B9-4A0C-FA36-B607-BF73445726DF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D)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79BFD6-19B3-C5AC-D785-E888FF100DD2}"/>
              </a:ext>
            </a:extLst>
          </p:cNvPr>
          <p:cNvSpPr txBox="1"/>
          <p:nvPr/>
        </p:nvSpPr>
        <p:spPr>
          <a:xfrm>
            <a:off x="296637" y="2348735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0EA704-2BF6-5C2F-B48D-DE4475B9A090}"/>
              </a:ext>
            </a:extLst>
          </p:cNvPr>
          <p:cNvSpPr txBox="1"/>
          <p:nvPr/>
        </p:nvSpPr>
        <p:spPr>
          <a:xfrm>
            <a:off x="1973412" y="23936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0ADFB8-2925-A21A-1B87-2DA7494CB065}"/>
              </a:ext>
            </a:extLst>
          </p:cNvPr>
          <p:cNvSpPr txBox="1"/>
          <p:nvPr/>
        </p:nvSpPr>
        <p:spPr>
          <a:xfrm>
            <a:off x="280765" y="2810986"/>
            <a:ext cx="529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B209CE-1741-50B5-86CD-98D58579885A}"/>
              </a:ext>
            </a:extLst>
          </p:cNvPr>
          <p:cNvSpPr txBox="1"/>
          <p:nvPr/>
        </p:nvSpPr>
        <p:spPr>
          <a:xfrm>
            <a:off x="1983181" y="2854091"/>
            <a:ext cx="590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68BB306-B06E-F544-B5BE-2795C5C881C3}"/>
                  </a:ext>
                </a:extLst>
              </p:cNvPr>
              <p:cNvSpPr txBox="1"/>
              <p:nvPr/>
            </p:nvSpPr>
            <p:spPr>
              <a:xfrm>
                <a:off x="735576" y="1014724"/>
                <a:ext cx="5226410" cy="1378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The solution of the equation</a:t>
                </a:r>
              </a:p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68BB306-B06E-F544-B5BE-2795C5C88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76" y="1014724"/>
                <a:ext cx="5226410" cy="1378904"/>
              </a:xfrm>
              <a:prstGeom prst="rect">
                <a:avLst/>
              </a:prstGeom>
              <a:blipFill>
                <a:blip r:embed="rId3"/>
                <a:stretch>
                  <a:fillRect l="-1050" t="-1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71B2971-D7BB-39F8-1258-582F6329FEAC}"/>
              </a:ext>
            </a:extLst>
          </p:cNvPr>
          <p:cNvSpPr txBox="1"/>
          <p:nvPr/>
        </p:nvSpPr>
        <p:spPr>
          <a:xfrm>
            <a:off x="735576" y="2393628"/>
            <a:ext cx="6096000" cy="60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(1,1,1)</a:t>
            </a:r>
            <a:br>
              <a:rPr lang="en-IN" dirty="0"/>
            </a:b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EDF4A2-27D3-19BE-7BC7-19ED6D35742A}"/>
              </a:ext>
            </a:extLst>
          </p:cNvPr>
          <p:cNvSpPr txBox="1"/>
          <p:nvPr/>
        </p:nvSpPr>
        <p:spPr>
          <a:xfrm>
            <a:off x="2355073" y="2426917"/>
            <a:ext cx="6096000" cy="60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(0,−1,2)</a:t>
            </a:r>
            <a:br>
              <a:rPr lang="en-IN" dirty="0"/>
            </a:b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6D7F19-C505-06DC-241E-0E8F3EA788D4}"/>
              </a:ext>
            </a:extLst>
          </p:cNvPr>
          <p:cNvSpPr txBox="1"/>
          <p:nvPr/>
        </p:nvSpPr>
        <p:spPr>
          <a:xfrm>
            <a:off x="661025" y="2801440"/>
            <a:ext cx="1189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(−1,2,2)</a:t>
            </a:r>
            <a:br>
              <a:rPr lang="en-IN" dirty="0"/>
            </a:b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BD8F20-72C6-0CAB-71FE-7033AA127236}"/>
              </a:ext>
            </a:extLst>
          </p:cNvPr>
          <p:cNvSpPr txBox="1"/>
          <p:nvPr/>
        </p:nvSpPr>
        <p:spPr>
          <a:xfrm>
            <a:off x="2355073" y="2845747"/>
            <a:ext cx="1385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(−1,0,2)</a:t>
            </a:r>
            <a:br>
              <a:rPr lang="en-IN" dirty="0"/>
            </a:b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DE5174-42F9-3B2C-AC4F-FCB19C1BAB9B}"/>
              </a:ext>
            </a:extLst>
          </p:cNvPr>
          <p:cNvSpPr txBox="1"/>
          <p:nvPr/>
        </p:nvSpPr>
        <p:spPr>
          <a:xfrm>
            <a:off x="10772815" y="6279577"/>
            <a:ext cx="141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(−1,0,2)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63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A8A12-1581-7974-ECFA-B45E81B69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0035AD1-6F84-E4EB-6619-D63E4BEB8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1218E7-2EA4-5D9D-49D6-AD7A42AE63A0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4458F6-D585-9840-7807-1DCAB71CCCEA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5DE123-F314-0F70-162F-732939FFE039}"/>
              </a:ext>
            </a:extLst>
          </p:cNvPr>
          <p:cNvSpPr txBox="1"/>
          <p:nvPr/>
        </p:nvSpPr>
        <p:spPr>
          <a:xfrm>
            <a:off x="209384" y="1268990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0FB048-5AB5-B104-2650-2A792E55C6D8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84A6A9-CE07-B1D8-826B-762BE358B6FD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D)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7FB7D3-E1EB-B198-7686-7F7C980F4352}"/>
                  </a:ext>
                </a:extLst>
              </p:cNvPr>
              <p:cNvSpPr txBox="1"/>
              <p:nvPr/>
            </p:nvSpPr>
            <p:spPr>
              <a:xfrm>
                <a:off x="450035" y="2823863"/>
                <a:ext cx="15233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1,2,3</m:t>
                        </m:r>
                      </m:e>
                    </m:d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7FB7D3-E1EB-B198-7686-7F7C980F4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35" y="2823863"/>
                <a:ext cx="1523376" cy="369332"/>
              </a:xfrm>
              <a:prstGeom prst="rect">
                <a:avLst/>
              </a:prstGeom>
              <a:blipFill>
                <a:blip r:embed="rId3"/>
                <a:stretch>
                  <a:fillRect l="-36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31550E-4FB9-762F-7A5B-EEB260470400}"/>
                  </a:ext>
                </a:extLst>
              </p:cNvPr>
              <p:cNvSpPr txBox="1"/>
              <p:nvPr/>
            </p:nvSpPr>
            <p:spPr>
              <a:xfrm>
                <a:off x="2136579" y="255727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0" smtClean="0">
                            <a:latin typeface="Cambria Math" panose="02040503050406030204" pitchFamily="18" charset="0"/>
                          </a:rPr>
                          <m:t>2,1,3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31550E-4FB9-762F-7A5B-EEB26047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579" y="2557275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l="-800" t="-1000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28F674-4325-A9B3-536F-FC53B9034417}"/>
                  </a:ext>
                </a:extLst>
              </p:cNvPr>
              <p:cNvSpPr txBox="1"/>
              <p:nvPr/>
            </p:nvSpPr>
            <p:spPr>
              <a:xfrm>
                <a:off x="434162" y="3286114"/>
                <a:ext cx="12795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0" dirty="0">
                            <a:latin typeface="Cambria Math" panose="02040503050406030204" pitchFamily="18" charset="0"/>
                          </a:rPr>
                          <m:t>1,3,2</m:t>
                        </m:r>
                      </m:e>
                    </m:d>
                  </m:oMath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28F674-4325-A9B3-536F-FC53B9034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62" y="3286114"/>
                <a:ext cx="1279555" cy="369332"/>
              </a:xfrm>
              <a:prstGeom prst="rect">
                <a:avLst/>
              </a:prstGeom>
              <a:blipFill>
                <a:blip r:embed="rId5"/>
                <a:stretch>
                  <a:fillRect l="-381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059524-4119-4DA1-F8D1-1B5F8C436F40}"/>
                  </a:ext>
                </a:extLst>
              </p:cNvPr>
              <p:cNvSpPr txBox="1"/>
              <p:nvPr/>
            </p:nvSpPr>
            <p:spPr>
              <a:xfrm>
                <a:off x="2136579" y="3329219"/>
                <a:ext cx="12795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0" dirty="0">
                            <a:latin typeface="Cambria Math" panose="02040503050406030204" pitchFamily="18" charset="0"/>
                          </a:rPr>
                          <m:t>2,3,1</m:t>
                        </m:r>
                      </m:e>
                    </m:d>
                  </m:oMath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059524-4119-4DA1-F8D1-1B5F8C436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579" y="3329219"/>
                <a:ext cx="1279552" cy="369332"/>
              </a:xfrm>
              <a:prstGeom prst="rect">
                <a:avLst/>
              </a:prstGeom>
              <a:blipFill>
                <a:blip r:embed="rId6"/>
                <a:stretch>
                  <a:fillRect l="-381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4AFD04E-FA61-40DC-CF30-5764CCF940BA}"/>
              </a:ext>
            </a:extLst>
          </p:cNvPr>
          <p:cNvSpPr txBox="1"/>
          <p:nvPr/>
        </p:nvSpPr>
        <p:spPr>
          <a:xfrm>
            <a:off x="735576" y="1255910"/>
            <a:ext cx="52264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The solution of the equation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41B447-6232-BCE8-BD21-7D6EEB6B3CC2}"/>
              </a:ext>
            </a:extLst>
          </p:cNvPr>
          <p:cNvSpPr txBox="1"/>
          <p:nvPr/>
        </p:nvSpPr>
        <p:spPr>
          <a:xfrm>
            <a:off x="10772815" y="6279577"/>
            <a:ext cx="141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(1,2,3)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D9909B-9E7C-CB9D-1716-D55613A8F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66" y="1576234"/>
            <a:ext cx="3101609" cy="1158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EA2BD5-4AE6-9DFE-5C74-E82ED252C45B}"/>
              </a:ext>
            </a:extLst>
          </p:cNvPr>
          <p:cNvSpPr txBox="1"/>
          <p:nvPr/>
        </p:nvSpPr>
        <p:spPr>
          <a:xfrm>
            <a:off x="3596431" y="19682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( x , y, z )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AE699-9FA7-74F7-C7A0-2EA6C1A32104}"/>
              </a:ext>
            </a:extLst>
          </p:cNvPr>
          <p:cNvSpPr txBox="1"/>
          <p:nvPr/>
        </p:nvSpPr>
        <p:spPr>
          <a:xfrm>
            <a:off x="209384" y="8778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 TYPE SAME AS LAST QUESTION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04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3DCD-30D0-3304-CBC3-693CB0CF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185E51A-8115-D99D-3041-A68B74A6E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2B8AF-A6A9-C76D-C726-DBB5A24AE96B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51D51-39E9-2710-93DF-7A71D274876E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9088F-E925-AA8A-2B6D-BBD16209734F}"/>
              </a:ext>
            </a:extLst>
          </p:cNvPr>
          <p:cNvSpPr txBox="1"/>
          <p:nvPr/>
        </p:nvSpPr>
        <p:spPr>
          <a:xfrm>
            <a:off x="209384" y="102780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 If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1922D2-AC2D-4790-9526-2FE4CAB5A7AF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0A1B39A-C8CD-4A50-0295-F8EB2960AFE9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1C320-ABAA-729B-14DB-FC13A04F4C74}"/>
              </a:ext>
            </a:extLst>
          </p:cNvPr>
          <p:cNvSpPr txBox="1"/>
          <p:nvPr/>
        </p:nvSpPr>
        <p:spPr>
          <a:xfrm>
            <a:off x="503114" y="1582253"/>
            <a:ext cx="107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2FB483-FDBB-536B-A13B-6F64570C474C}"/>
              </a:ext>
            </a:extLst>
          </p:cNvPr>
          <p:cNvSpPr txBox="1"/>
          <p:nvPr/>
        </p:nvSpPr>
        <p:spPr>
          <a:xfrm>
            <a:off x="2165878" y="16576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10A0F5-8D0E-D784-C7FC-6A9F90896448}"/>
              </a:ext>
            </a:extLst>
          </p:cNvPr>
          <p:cNvSpPr txBox="1"/>
          <p:nvPr/>
        </p:nvSpPr>
        <p:spPr>
          <a:xfrm>
            <a:off x="487242" y="2044504"/>
            <a:ext cx="529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16017-EA7A-76D2-8121-3FD5D0DC6A19}"/>
              </a:ext>
            </a:extLst>
          </p:cNvPr>
          <p:cNvSpPr txBox="1"/>
          <p:nvPr/>
        </p:nvSpPr>
        <p:spPr>
          <a:xfrm>
            <a:off x="2184272" y="2034958"/>
            <a:ext cx="590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32ABC5-78F0-223B-DDB4-87AB51A01458}"/>
              </a:ext>
            </a:extLst>
          </p:cNvPr>
          <p:cNvSpPr txBox="1"/>
          <p:nvPr/>
        </p:nvSpPr>
        <p:spPr>
          <a:xfrm>
            <a:off x="942053" y="16271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IN" dirty="0"/>
              <a:t>0,0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lang="en-IN" dirty="0"/>
            </a:b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9A25F-AE32-C1C6-B4F5-7E8A0791357B}"/>
              </a:ext>
            </a:extLst>
          </p:cNvPr>
          <p:cNvSpPr txBox="1"/>
          <p:nvPr/>
        </p:nvSpPr>
        <p:spPr>
          <a:xfrm>
            <a:off x="2511618" y="16271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(1,−1)</a:t>
            </a:r>
            <a:br>
              <a:rPr lang="en-IN" dirty="0"/>
            </a:b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5E5FFC-090F-F6AF-02EE-AF79B8A87CD9}"/>
              </a:ext>
            </a:extLst>
          </p:cNvPr>
          <p:cNvSpPr txBox="1"/>
          <p:nvPr/>
        </p:nvSpPr>
        <p:spPr>
          <a:xfrm>
            <a:off x="867502" y="2034958"/>
            <a:ext cx="1189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(2,-1)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A08EFC-488B-04D1-032C-6085DE1AABF0}"/>
              </a:ext>
            </a:extLst>
          </p:cNvPr>
          <p:cNvSpPr txBox="1"/>
          <p:nvPr/>
        </p:nvSpPr>
        <p:spPr>
          <a:xfrm>
            <a:off x="2573902" y="2044504"/>
            <a:ext cx="1385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3FB804-824F-558C-83A4-C81C38D8D3AE}"/>
              </a:ext>
            </a:extLst>
          </p:cNvPr>
          <p:cNvSpPr txBox="1"/>
          <p:nvPr/>
        </p:nvSpPr>
        <p:spPr>
          <a:xfrm>
            <a:off x="10772815" y="6279577"/>
            <a:ext cx="141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EBB13-EEFD-792B-1838-007BD9F96A68}"/>
              </a:ext>
            </a:extLst>
          </p:cNvPr>
          <p:cNvSpPr txBox="1"/>
          <p:nvPr/>
        </p:nvSpPr>
        <p:spPr>
          <a:xfrm>
            <a:off x="2573902" y="10462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skew-symmetric, then (a, b) is: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03F00-B4E6-518B-8E09-7A43AA9E4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165"/>
          <a:stretch>
            <a:fillRect/>
          </a:stretch>
        </p:blipFill>
        <p:spPr>
          <a:xfrm>
            <a:off x="993514" y="905753"/>
            <a:ext cx="1886246" cy="78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67DF-5E21-84D3-A82D-C64B8B507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F45FBFB-CCD9-F971-0E9C-F1CA0F0DB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BB246B-E390-C2AB-48CF-A9C2530DE67C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21C8A-196D-FFE0-A2A3-F8096939995E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98533F-1B7E-5B30-AE6B-585E69671A26}"/>
              </a:ext>
            </a:extLst>
          </p:cNvPr>
          <p:cNvSpPr txBox="1"/>
          <p:nvPr/>
        </p:nvSpPr>
        <p:spPr>
          <a:xfrm>
            <a:off x="209384" y="1027804"/>
            <a:ext cx="15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 If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438631-5996-CC01-E5E8-4400F9D78725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AE9FCA-8BC1-B3E1-5650-E36B0C214984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A)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C33708-4166-0521-DCD0-281C28DA2BF1}"/>
              </a:ext>
            </a:extLst>
          </p:cNvPr>
          <p:cNvSpPr txBox="1"/>
          <p:nvPr/>
        </p:nvSpPr>
        <p:spPr>
          <a:xfrm>
            <a:off x="10772815" y="6279577"/>
            <a:ext cx="141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CD6E6-71BA-4CFA-11B1-DAD54CC789B3}"/>
              </a:ext>
            </a:extLst>
          </p:cNvPr>
          <p:cNvSpPr txBox="1"/>
          <p:nvPr/>
        </p:nvSpPr>
        <p:spPr>
          <a:xfrm>
            <a:off x="2573902" y="1046206"/>
            <a:ext cx="2988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symmetric, then the relation between (x) and (y) 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55145C-A78A-D51E-598E-F1230A3FB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79" y="816114"/>
            <a:ext cx="1398683" cy="81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816F6-69CE-0185-21BE-7C7FE2A810F9}"/>
              </a:ext>
            </a:extLst>
          </p:cNvPr>
          <p:cNvSpPr txBox="1"/>
          <p:nvPr/>
        </p:nvSpPr>
        <p:spPr>
          <a:xfrm>
            <a:off x="314633" y="17124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x = y                                     B) x + y = 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x = 3  and y = 2)                   D) No restriction on x and y</a:t>
            </a:r>
          </a:p>
        </p:txBody>
      </p:sp>
    </p:spTree>
    <p:extLst>
      <p:ext uri="{BB962C8B-B14F-4D97-AF65-F5344CB8AC3E}">
        <p14:creationId xmlns:p14="http://schemas.microsoft.com/office/powerpoint/2010/main" val="209316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EC3E8-56F4-9753-8810-754EE2CB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788E944-3E89-EEC7-7212-863DE96C4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179C19-5EB1-3A03-C0E4-CCE1FA4D14C7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ED4D0-3F93-8D32-984D-B6E675F74540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7D06A0-07D8-F364-0078-A48C1BFBFD3B}"/>
              </a:ext>
            </a:extLst>
          </p:cNvPr>
          <p:cNvSpPr txBox="1"/>
          <p:nvPr/>
        </p:nvSpPr>
        <p:spPr>
          <a:xfrm>
            <a:off x="209383" y="1027804"/>
            <a:ext cx="548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A and B  are matrices of the same order    such that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=  A -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3F721E-0888-6D2E-5F1A-B47CF90FFEAA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B90BCE-A828-F7CC-2961-7916D146637B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77794A-DF61-16DC-91EA-32A59947DACA}"/>
              </a:ext>
            </a:extLst>
          </p:cNvPr>
          <p:cNvSpPr txBox="1"/>
          <p:nvPr/>
        </p:nvSpPr>
        <p:spPr>
          <a:xfrm>
            <a:off x="10772815" y="6279577"/>
            <a:ext cx="141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56E69-7816-5400-C850-3946197EEB7C}"/>
              </a:ext>
            </a:extLst>
          </p:cNvPr>
          <p:cNvSpPr txBox="1"/>
          <p:nvPr/>
        </p:nvSpPr>
        <p:spPr>
          <a:xfrm>
            <a:off x="403127" y="16741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 = 0               B) B = 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=B                D) A = I </a:t>
            </a:r>
          </a:p>
        </p:txBody>
      </p:sp>
    </p:spTree>
    <p:extLst>
      <p:ext uri="{BB962C8B-B14F-4D97-AF65-F5344CB8AC3E}">
        <p14:creationId xmlns:p14="http://schemas.microsoft.com/office/powerpoint/2010/main" val="365118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A688-03EC-C953-4970-351C202E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4B0CEA4-BF79-A933-86C7-CE7B9BB4F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AEF0BB-CD03-0A3D-8B1E-C82C66F14E02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F7432-926E-F5FA-6C89-A43ECB2B4590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B24AA4-7D24-5649-27DD-1578DD327D87}"/>
              </a:ext>
            </a:extLst>
          </p:cNvPr>
          <p:cNvSpPr txBox="1"/>
          <p:nvPr/>
        </p:nvSpPr>
        <p:spPr>
          <a:xfrm>
            <a:off x="209383" y="1027804"/>
            <a:ext cx="548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31. If A is a skew-symmetric matrix, then which statement is always true?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39E8E2-DE07-501B-EBEE-88F79E4937A3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24E5D10-2E47-4C3E-8B91-1308265F230B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BBA82-7D81-B828-BFDE-1E30E017579B}"/>
              </a:ext>
            </a:extLst>
          </p:cNvPr>
          <p:cNvSpPr txBox="1"/>
          <p:nvPr/>
        </p:nvSpPr>
        <p:spPr>
          <a:xfrm>
            <a:off x="403127" y="16741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                   B)</a:t>
            </a:r>
          </a:p>
          <a:p>
            <a:pPr marL="342900" indent="-342900">
              <a:buAutoNum type="alphaU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D)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FFB3D-685F-3617-8B11-CCD770EAF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61" y="1682540"/>
            <a:ext cx="732440" cy="302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83E4E-8EF0-3FFE-C639-FD16C7803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036" y="1686722"/>
            <a:ext cx="979234" cy="3105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D3A321-1C03-7CBB-BAF5-F556C1662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61" y="2247762"/>
            <a:ext cx="759599" cy="2275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CF707F-407B-51AC-8B9B-42E159BD7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4654" y="2247762"/>
            <a:ext cx="856473" cy="3279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DDA83D-9B86-053E-BB6E-A2759044E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383" y="6308954"/>
            <a:ext cx="979234" cy="31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0AD7-38A4-70A9-16CD-CBEBF5C7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0C14E1D-CD6A-DE7D-F83E-7149CE646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555E35-F61D-1C41-6057-EDF96FD169D5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58284-0652-28A2-83B0-D8CA46CDB4BB}"/>
              </a:ext>
            </a:extLst>
          </p:cNvPr>
          <p:cNvSpPr txBox="1"/>
          <p:nvPr/>
        </p:nvSpPr>
        <p:spPr>
          <a:xfrm>
            <a:off x="209384" y="518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Algebra of Matrices</a:t>
            </a:r>
            <a:endParaRPr lang="en-IN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F5938-EA56-BA58-9243-24D6E6255432}"/>
              </a:ext>
            </a:extLst>
          </p:cNvPr>
          <p:cNvSpPr txBox="1"/>
          <p:nvPr/>
        </p:nvSpPr>
        <p:spPr>
          <a:xfrm>
            <a:off x="209383" y="1027804"/>
            <a:ext cx="548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06A3C3-E4EB-1E59-D0B4-BA08291FB225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87ACF08-43F5-FDE3-4C3D-CA8C39F03AA6}"/>
              </a:ext>
            </a:extLst>
          </p:cNvPr>
          <p:cNvSpPr txBox="1"/>
          <p:nvPr/>
        </p:nvSpPr>
        <p:spPr>
          <a:xfrm>
            <a:off x="9549276" y="6279577"/>
            <a:ext cx="184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B)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FD67FE-5BFE-93AB-E736-1B79508F8AC8}"/>
              </a:ext>
            </a:extLst>
          </p:cNvPr>
          <p:cNvSpPr txBox="1"/>
          <p:nvPr/>
        </p:nvSpPr>
        <p:spPr>
          <a:xfrm>
            <a:off x="10772815" y="6279577"/>
            <a:ext cx="141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71C6F-E22D-54E7-C551-B0AA98615126}"/>
              </a:ext>
            </a:extLst>
          </p:cNvPr>
          <p:cNvSpPr txBox="1"/>
          <p:nvPr/>
        </p:nvSpPr>
        <p:spPr>
          <a:xfrm>
            <a:off x="294972" y="16475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A) Interchanging rows and columns</a:t>
            </a:r>
            <a:br>
              <a:rPr lang="en-IN" dirty="0"/>
            </a:br>
            <a:r>
              <a:rPr lang="en-IN" dirty="0"/>
              <a:t>B) Changing all elements to their negatives</a:t>
            </a:r>
            <a:br>
              <a:rPr lang="en-IN" dirty="0"/>
            </a:br>
            <a:r>
              <a:rPr lang="en-IN" dirty="0"/>
              <a:t>C) Interchanging diagonal elements only</a:t>
            </a:r>
            <a:br>
              <a:rPr lang="en-IN" dirty="0"/>
            </a:br>
            <a:r>
              <a:rPr lang="en-IN" dirty="0"/>
              <a:t>D) Multiplying every element by itself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05BBA-0587-C0C9-2D95-AE6BBCB33F8C}"/>
              </a:ext>
            </a:extLst>
          </p:cNvPr>
          <p:cNvSpPr txBox="1"/>
          <p:nvPr/>
        </p:nvSpPr>
        <p:spPr>
          <a:xfrm>
            <a:off x="658761" y="1042109"/>
            <a:ext cx="4149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represents the transpose of a matrix?</a:t>
            </a:r>
          </a:p>
        </p:txBody>
      </p:sp>
    </p:spTree>
    <p:extLst>
      <p:ext uri="{BB962C8B-B14F-4D97-AF65-F5344CB8AC3E}">
        <p14:creationId xmlns:p14="http://schemas.microsoft.com/office/powerpoint/2010/main" val="344773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5186-A193-9298-2AF1-5651EC43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56CDD83-B655-E420-B3AA-F8D5212E5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099D01-F6D8-1556-0FF0-2D665E89B565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41ADF5-E993-EA47-D020-9785158AB77E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28FE64-E0FE-7B89-5002-41401CDA73B4}"/>
              </a:ext>
            </a:extLst>
          </p:cNvPr>
          <p:cNvSpPr txBox="1"/>
          <p:nvPr/>
        </p:nvSpPr>
        <p:spPr>
          <a:xfrm>
            <a:off x="312398" y="533284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02FEB1-0C0B-B103-EBD8-234B4B814988}"/>
                  </a:ext>
                </a:extLst>
              </p:cNvPr>
              <p:cNvSpPr txBox="1"/>
              <p:nvPr/>
            </p:nvSpPr>
            <p:spPr>
              <a:xfrm>
                <a:off x="666919" y="1237110"/>
                <a:ext cx="5161934" cy="831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Let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e>
                        </m:d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 equal to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02FEB1-0C0B-B103-EBD8-234B4B814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19" y="1237110"/>
                <a:ext cx="5161934" cy="831253"/>
              </a:xfrm>
              <a:prstGeom prst="rect">
                <a:avLst/>
              </a:prstGeom>
              <a:blipFill>
                <a:blip r:embed="rId3"/>
                <a:stretch>
                  <a:fillRect l="-945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1F23746-949A-348D-A34C-DBF25D669021}"/>
              </a:ext>
            </a:extLst>
          </p:cNvPr>
          <p:cNvSpPr txBox="1"/>
          <p:nvPr/>
        </p:nvSpPr>
        <p:spPr>
          <a:xfrm>
            <a:off x="244132" y="1329571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8C681B-B88A-ECE1-32EF-58A84DE24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87" y="2068363"/>
            <a:ext cx="1914987" cy="12821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0B0FCB-63C1-9BE3-2CD0-0E47E3B2C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7995" y="2109642"/>
            <a:ext cx="2331309" cy="124085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CCAEA17-CB9D-5383-B785-05B1FA2D3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52" y="3350500"/>
            <a:ext cx="1790855" cy="11049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945396-6C76-B498-F067-5B1D18B3B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7995" y="3261929"/>
            <a:ext cx="2138134" cy="128213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1B738D-2C04-ECC0-8333-A48A44788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866" y="5575863"/>
            <a:ext cx="2138134" cy="128213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9285040-7E9F-4171-346E-062EB2D6D546}"/>
              </a:ext>
            </a:extLst>
          </p:cNvPr>
          <p:cNvSpPr txBox="1"/>
          <p:nvPr/>
        </p:nvSpPr>
        <p:spPr>
          <a:xfrm>
            <a:off x="312398" y="867778"/>
            <a:ext cx="7049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2026 (20 May Shift 1)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8A7ED3-FFBF-3179-B935-C8BE0E7042FC}"/>
              </a:ext>
            </a:extLst>
          </p:cNvPr>
          <p:cNvSpPr txBox="1"/>
          <p:nvPr/>
        </p:nvSpPr>
        <p:spPr>
          <a:xfrm>
            <a:off x="5229087" y="49408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42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A4BE-185C-1481-2BC5-482A3C30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7D26CF0-7B5F-E360-B99A-001F675E3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354DE3-46BD-9042-3A82-AFCC73BC7DAE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63EAE-C066-923A-3299-5352E158A27D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F1C66A-B8EA-AF62-C3FE-20F570D4CCE9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1340E-5439-1BDA-C565-73C18A1C007C}"/>
              </a:ext>
            </a:extLst>
          </p:cNvPr>
          <p:cNvSpPr txBox="1"/>
          <p:nvPr/>
        </p:nvSpPr>
        <p:spPr>
          <a:xfrm>
            <a:off x="88706" y="1628325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784D06-C880-37F5-DEA6-59C8D23008E2}"/>
                  </a:ext>
                </a:extLst>
              </p:cNvPr>
              <p:cNvSpPr txBox="1"/>
              <p:nvPr/>
            </p:nvSpPr>
            <p:spPr>
              <a:xfrm>
                <a:off x="508362" y="1306345"/>
                <a:ext cx="6096000" cy="1013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b="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>
                            <a:latin typeface="Cambria Math" panose="02040503050406030204" pitchFamily="18" charset="0"/>
                          </a:rPr>
                          <m:t>Adj</m:t>
                        </m:r>
                        <m:d>
                          <m:dPr>
                            <m:ctrlPr>
                              <a:rPr lang="en-I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IN" b="0" i="0">
                                    <a:latin typeface="Cambria Math" panose="02040503050406030204" pitchFamily="18" charset="0"/>
                                  </a:rPr>
                                  <m:t>2026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 equal to: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784D06-C880-37F5-DEA6-59C8D2300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62" y="1306345"/>
                <a:ext cx="6096000" cy="1013291"/>
              </a:xfrm>
              <a:prstGeom prst="rect">
                <a:avLst/>
              </a:prstGeom>
              <a:blipFill>
                <a:blip r:embed="rId3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1421974-A349-7C64-0D5D-56349D7D3EA1}"/>
              </a:ext>
            </a:extLst>
          </p:cNvPr>
          <p:cNvSpPr txBox="1"/>
          <p:nvPr/>
        </p:nvSpPr>
        <p:spPr>
          <a:xfrm>
            <a:off x="508363" y="2414646"/>
            <a:ext cx="414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                          B) -1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-0.5                      D)  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003777-D52B-2699-E46E-E38CCBAE2991}"/>
              </a:ext>
            </a:extLst>
          </p:cNvPr>
          <p:cNvSpPr txBox="1"/>
          <p:nvPr/>
        </p:nvSpPr>
        <p:spPr>
          <a:xfrm>
            <a:off x="11252425" y="6296939"/>
            <a:ext cx="93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F76697-0647-8E4E-41B0-04A3B0D1BF54}"/>
              </a:ext>
            </a:extLst>
          </p:cNvPr>
          <p:cNvSpPr txBox="1"/>
          <p:nvPr/>
        </p:nvSpPr>
        <p:spPr>
          <a:xfrm>
            <a:off x="250834" y="98214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2026 (19 May Shift 1)</a:t>
            </a:r>
          </a:p>
        </p:txBody>
      </p:sp>
    </p:spTree>
    <p:extLst>
      <p:ext uri="{BB962C8B-B14F-4D97-AF65-F5344CB8AC3E}">
        <p14:creationId xmlns:p14="http://schemas.microsoft.com/office/powerpoint/2010/main" val="316023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54D2C-4575-0C82-31B5-AFD497AC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C3AE28C-E8A8-2274-5501-2E28EBFE8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452720-CC3F-0503-19BE-F633933240FC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9B89A9-C0F8-8976-5D56-2502B37E49C9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8E08759-A578-723F-804D-66778B74183E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D36F9D-DA6D-AB87-3551-65DD39EFF02B}"/>
              </a:ext>
            </a:extLst>
          </p:cNvPr>
          <p:cNvSpPr txBox="1"/>
          <p:nvPr/>
        </p:nvSpPr>
        <p:spPr>
          <a:xfrm>
            <a:off x="88708" y="1539508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06774D-F9CF-BE41-7FCE-0D41E8C7B33F}"/>
                  </a:ext>
                </a:extLst>
              </p:cNvPr>
              <p:cNvSpPr txBox="1"/>
              <p:nvPr/>
            </p:nvSpPr>
            <p:spPr>
              <a:xfrm>
                <a:off x="590884" y="1216342"/>
                <a:ext cx="6094324" cy="1164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...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06774D-F9CF-BE41-7FCE-0D41E8C7B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84" y="1216342"/>
                <a:ext cx="6094324" cy="1164934"/>
              </a:xfrm>
              <a:prstGeom prst="rect">
                <a:avLst/>
              </a:prstGeom>
              <a:blipFill>
                <a:blip r:embed="rId3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F66AC14-EBD6-2AE7-841D-CE3D94301578}"/>
              </a:ext>
            </a:extLst>
          </p:cNvPr>
          <p:cNvSpPr txBox="1"/>
          <p:nvPr/>
        </p:nvSpPr>
        <p:spPr>
          <a:xfrm>
            <a:off x="341895" y="939343"/>
            <a:ext cx="6018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2026 (15 May Shift 2)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DE46F-3A02-7666-0CBB-F24F7CEB3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64" y="2452556"/>
            <a:ext cx="5380483" cy="13362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A6C0C4-D40E-E3A7-55CC-27D61D2799CA}"/>
              </a:ext>
            </a:extLst>
          </p:cNvPr>
          <p:cNvSpPr txBox="1"/>
          <p:nvPr/>
        </p:nvSpPr>
        <p:spPr>
          <a:xfrm>
            <a:off x="10201644" y="5934670"/>
            <a:ext cx="19054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   a = 1, c = −1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6540-F656-7D1E-5AEE-7B01D38A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34EC786-2337-7B4F-BB0A-F896DF11D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31332-67FA-9F26-924C-7DEA74DFB6ED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44FAE4-194C-F0D1-DFFC-233E9DFBEB1D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1E33131-B80C-6F8F-89F9-84FF8111FEB0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A68E0F-E6F1-CD44-DB26-346A0AFE8332}"/>
              </a:ext>
            </a:extLst>
          </p:cNvPr>
          <p:cNvSpPr txBox="1"/>
          <p:nvPr/>
        </p:nvSpPr>
        <p:spPr>
          <a:xfrm>
            <a:off x="78658" y="1216342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3D239F-F2C3-3610-8721-17405AABA3B5}"/>
                  </a:ext>
                </a:extLst>
              </p:cNvPr>
              <p:cNvSpPr txBox="1"/>
              <p:nvPr/>
            </p:nvSpPr>
            <p:spPr>
              <a:xfrm>
                <a:off x="694139" y="960823"/>
                <a:ext cx="6094070" cy="1249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3D239F-F2C3-3610-8721-17405AABA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39" y="960823"/>
                <a:ext cx="6094070" cy="1249701"/>
              </a:xfrm>
              <a:prstGeom prst="rect">
                <a:avLst/>
              </a:prstGeom>
              <a:blipFill>
                <a:blip r:embed="rId3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292654A-E4D4-181E-B383-AAA458266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49" y="1947270"/>
            <a:ext cx="2177025" cy="8763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46644C-B1EF-262A-91D2-14F268C2B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544" y="1947270"/>
            <a:ext cx="2494785" cy="9673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076269-AA43-3CA3-896F-2975710FD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95" y="2933717"/>
            <a:ext cx="2303979" cy="7798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26962E-8F7E-B135-CB99-483C438574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544" y="2894973"/>
            <a:ext cx="2381376" cy="8572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BAE0DC-B184-472D-D15A-71555A814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260" y="5698905"/>
            <a:ext cx="2494785" cy="96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6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9CB79-A056-F842-358A-F85505A3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FEAEF43-2EB3-8AF4-7882-AFF021FDD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57199-F308-931E-A265-7A8EBDA58E5D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F136E8-5A58-E9B1-18C7-EED02AA7D0FB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AB077A-755F-8F3B-1D73-606E6E58011B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65A642-341A-C8E1-60AB-BC7DBFFF95E7}"/>
              </a:ext>
            </a:extLst>
          </p:cNvPr>
          <p:cNvSpPr txBox="1"/>
          <p:nvPr/>
        </p:nvSpPr>
        <p:spPr>
          <a:xfrm>
            <a:off x="175367" y="1268500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66B0CE-2937-02B2-1186-B4BF0904D6A9}"/>
                  </a:ext>
                </a:extLst>
              </p:cNvPr>
              <p:cNvSpPr txBox="1"/>
              <p:nvPr/>
            </p:nvSpPr>
            <p:spPr>
              <a:xfrm>
                <a:off x="829212" y="1169407"/>
                <a:ext cx="3622289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66B0CE-2937-02B2-1186-B4BF0904D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12" y="1169407"/>
                <a:ext cx="3622289" cy="554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E7AEF76-EE7A-7DBF-F03A-83E6BA89551A}"/>
              </a:ext>
            </a:extLst>
          </p:cNvPr>
          <p:cNvSpPr txBox="1"/>
          <p:nvPr/>
        </p:nvSpPr>
        <p:spPr>
          <a:xfrm>
            <a:off x="718843" y="128240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EE107-16F9-08F6-7BF1-BFEEC748CF20}"/>
              </a:ext>
            </a:extLst>
          </p:cNvPr>
          <p:cNvSpPr txBox="1"/>
          <p:nvPr/>
        </p:nvSpPr>
        <p:spPr>
          <a:xfrm>
            <a:off x="4416803" y="1282400"/>
            <a:ext cx="1453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(AB)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871AED-4FE6-BD52-79E7-C82927683F51}"/>
                  </a:ext>
                </a:extLst>
              </p:cNvPr>
              <p:cNvSpPr txBox="1"/>
              <p:nvPr/>
            </p:nvSpPr>
            <p:spPr>
              <a:xfrm>
                <a:off x="-1580312" y="1948173"/>
                <a:ext cx="6248400" cy="553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871AED-4FE6-BD52-79E7-C82927683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0312" y="1948173"/>
                <a:ext cx="6248400" cy="5532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57AABC-B973-6C31-2315-3535C4F09B01}"/>
                  </a:ext>
                </a:extLst>
              </p:cNvPr>
              <p:cNvSpPr txBox="1"/>
              <p:nvPr/>
            </p:nvSpPr>
            <p:spPr>
              <a:xfrm>
                <a:off x="768228" y="1909096"/>
                <a:ext cx="6887496" cy="553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57AABC-B973-6C31-2315-3535C4F0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28" y="1909096"/>
                <a:ext cx="6887496" cy="5532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7D935E-4372-C068-BC0E-8D17DACAB911}"/>
                  </a:ext>
                </a:extLst>
              </p:cNvPr>
              <p:cNvSpPr txBox="1"/>
              <p:nvPr/>
            </p:nvSpPr>
            <p:spPr>
              <a:xfrm>
                <a:off x="-1899860" y="2620908"/>
                <a:ext cx="6887496" cy="553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7D935E-4372-C068-BC0E-8D17DACAB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9860" y="2620908"/>
                <a:ext cx="6887496" cy="5532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02F138-A440-BC00-E74F-34BD013DABDD}"/>
                  </a:ext>
                </a:extLst>
              </p:cNvPr>
              <p:cNvSpPr txBox="1"/>
              <p:nvPr/>
            </p:nvSpPr>
            <p:spPr>
              <a:xfrm>
                <a:off x="610912" y="2621742"/>
                <a:ext cx="7044812" cy="55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B02F138-A440-BC00-E74F-34BD013D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12" y="2621742"/>
                <a:ext cx="7044812" cy="5524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BFFF013-C771-9C38-CF15-CAA9F9A49646}"/>
              </a:ext>
            </a:extLst>
          </p:cNvPr>
          <p:cNvSpPr txBox="1"/>
          <p:nvPr/>
        </p:nvSpPr>
        <p:spPr>
          <a:xfrm>
            <a:off x="596180" y="2018185"/>
            <a:ext cx="43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58F6AA-FCFB-C75F-8782-2FFEA1F6E300}"/>
              </a:ext>
            </a:extLst>
          </p:cNvPr>
          <p:cNvSpPr txBox="1"/>
          <p:nvPr/>
        </p:nvSpPr>
        <p:spPr>
          <a:xfrm>
            <a:off x="3089788" y="2018185"/>
            <a:ext cx="704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4D46CE-F2E7-933B-DAD6-7C1342696E65}"/>
              </a:ext>
            </a:extLst>
          </p:cNvPr>
          <p:cNvSpPr txBox="1"/>
          <p:nvPr/>
        </p:nvSpPr>
        <p:spPr>
          <a:xfrm>
            <a:off x="610912" y="2627292"/>
            <a:ext cx="704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E1FC8A-399A-2BED-A07D-4D888FB2D1F2}"/>
              </a:ext>
            </a:extLst>
          </p:cNvPr>
          <p:cNvSpPr txBox="1"/>
          <p:nvPr/>
        </p:nvSpPr>
        <p:spPr>
          <a:xfrm>
            <a:off x="3089788" y="2656537"/>
            <a:ext cx="704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73BFD1D-3B77-C514-7F36-8C6D3BE9C6EC}"/>
                  </a:ext>
                </a:extLst>
              </p:cNvPr>
              <p:cNvSpPr txBox="1"/>
              <p:nvPr/>
            </p:nvSpPr>
            <p:spPr>
              <a:xfrm>
                <a:off x="10134600" y="6112978"/>
                <a:ext cx="2179614" cy="553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73BFD1D-3B77-C514-7F36-8C6D3BE9C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600" y="6112978"/>
                <a:ext cx="2179614" cy="5532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D107D2D0-BE7E-B3F1-6AC7-7ACDCE870EBC}"/>
              </a:ext>
            </a:extLst>
          </p:cNvPr>
          <p:cNvSpPr txBox="1"/>
          <p:nvPr/>
        </p:nvSpPr>
        <p:spPr>
          <a:xfrm>
            <a:off x="10256374" y="6204958"/>
            <a:ext cx="43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416201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481C8-1A83-1A19-0529-ED6650CA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6F2CA70-618B-68A0-18D5-572314858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A675D7-6E79-2839-0125-7470D6FADDE4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F5A1E9-1B90-45A3-0126-18590816C971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FFB15E-39B5-74DA-BAFB-988BC1E283AA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758F2E-176F-B109-AB75-DEAC5F4CD83B}"/>
              </a:ext>
            </a:extLst>
          </p:cNvPr>
          <p:cNvSpPr txBox="1"/>
          <p:nvPr/>
        </p:nvSpPr>
        <p:spPr>
          <a:xfrm>
            <a:off x="175367" y="1268500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D00C75-D141-D817-EC86-2ECBE82D2ABF}"/>
              </a:ext>
            </a:extLst>
          </p:cNvPr>
          <p:cNvSpPr txBox="1"/>
          <p:nvPr/>
        </p:nvSpPr>
        <p:spPr>
          <a:xfrm>
            <a:off x="596180" y="2018185"/>
            <a:ext cx="43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59FA02-5BA6-D359-9598-1DD52DECA325}"/>
              </a:ext>
            </a:extLst>
          </p:cNvPr>
          <p:cNvSpPr txBox="1"/>
          <p:nvPr/>
        </p:nvSpPr>
        <p:spPr>
          <a:xfrm>
            <a:off x="3089788" y="2018185"/>
            <a:ext cx="43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A93E9C-8EFC-57A6-893F-A449B61D0A10}"/>
              </a:ext>
            </a:extLst>
          </p:cNvPr>
          <p:cNvSpPr txBox="1"/>
          <p:nvPr/>
        </p:nvSpPr>
        <p:spPr>
          <a:xfrm>
            <a:off x="596180" y="2746126"/>
            <a:ext cx="704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16FABE-80E2-8188-D60A-05AF586946FA}"/>
              </a:ext>
            </a:extLst>
          </p:cNvPr>
          <p:cNvSpPr txBox="1"/>
          <p:nvPr/>
        </p:nvSpPr>
        <p:spPr>
          <a:xfrm>
            <a:off x="3089788" y="2656537"/>
            <a:ext cx="43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E72035-D705-306E-1F80-6CD7D207072D}"/>
              </a:ext>
            </a:extLst>
          </p:cNvPr>
          <p:cNvSpPr txBox="1"/>
          <p:nvPr/>
        </p:nvSpPr>
        <p:spPr>
          <a:xfrm>
            <a:off x="10256374" y="6204958"/>
            <a:ext cx="43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E76B79-5A3B-0A9E-1E5C-DDAFEDFFA04E}"/>
                  </a:ext>
                </a:extLst>
              </p:cNvPr>
              <p:cNvSpPr txBox="1"/>
              <p:nvPr/>
            </p:nvSpPr>
            <p:spPr>
              <a:xfrm>
                <a:off x="506151" y="1203245"/>
                <a:ext cx="2294251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E76B79-5A3B-0A9E-1E5C-DDAFEDFFA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51" y="1203245"/>
                <a:ext cx="2294251" cy="554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E9CA34-E67A-054C-B535-4B72CDEFC8BE}"/>
              </a:ext>
            </a:extLst>
          </p:cNvPr>
          <p:cNvSpPr txBox="1"/>
          <p:nvPr/>
        </p:nvSpPr>
        <p:spPr>
          <a:xfrm>
            <a:off x="610912" y="1327581"/>
            <a:ext cx="421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4551E1-1389-F4F3-FD7D-D80392AA0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216" y="1334621"/>
            <a:ext cx="1153531" cy="3693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44EBF9-04DF-3F72-0194-70C933C04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158" y="1845286"/>
            <a:ext cx="1036410" cy="7773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4E59F3-5A57-9436-FAE6-937320185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1042" y="1858843"/>
            <a:ext cx="1272650" cy="73920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722BD67-7BD3-EFF5-1A80-737207C25C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193" y="2599112"/>
            <a:ext cx="1242168" cy="85351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DC86A8-66A5-755C-5C5F-31526CA025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0376" y="2542138"/>
            <a:ext cx="956420" cy="88686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435F5E2-E507-A5D2-6DC0-0628D90BE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861" y="6000970"/>
            <a:ext cx="1036410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1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5C4B-DDA8-F15B-9FF9-E8446C49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2C3C423-33DF-78FB-387F-3A70E1781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7153B4-AC2A-946F-38B5-C2E2E335F999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F54C4F-295C-2AA2-40E2-6D7DB8B7D529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C952FE-4338-D03E-002F-D454A1DBCF86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DA950-2DF7-D53B-E1FC-56EB80E6BAE1}"/>
              </a:ext>
            </a:extLst>
          </p:cNvPr>
          <p:cNvSpPr txBox="1"/>
          <p:nvPr/>
        </p:nvSpPr>
        <p:spPr>
          <a:xfrm>
            <a:off x="175367" y="1268500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C2EF3E-49C4-1796-747C-648DF8E59F12}"/>
              </a:ext>
            </a:extLst>
          </p:cNvPr>
          <p:cNvSpPr txBox="1"/>
          <p:nvPr/>
        </p:nvSpPr>
        <p:spPr>
          <a:xfrm>
            <a:off x="829212" y="2861895"/>
            <a:ext cx="1124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2BE4DE-7318-9377-DC82-EB9FD767556E}"/>
                  </a:ext>
                </a:extLst>
              </p:cNvPr>
              <p:cNvSpPr txBox="1"/>
              <p:nvPr/>
            </p:nvSpPr>
            <p:spPr>
              <a:xfrm>
                <a:off x="3664409" y="2908061"/>
                <a:ext cx="19410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B) multiple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2BE4DE-7318-9377-DC82-EB9FD7675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409" y="2908061"/>
                <a:ext cx="1941029" cy="646331"/>
              </a:xfrm>
              <a:prstGeom prst="rect">
                <a:avLst/>
              </a:prstGeom>
              <a:blipFill>
                <a:blip r:embed="rId3"/>
                <a:stretch>
                  <a:fillRect l="-2508" t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7B909A6-A4CC-42C2-26CA-695445BE1094}"/>
                  </a:ext>
                </a:extLst>
              </p:cNvPr>
              <p:cNvSpPr txBox="1"/>
              <p:nvPr/>
            </p:nvSpPr>
            <p:spPr>
              <a:xfrm>
                <a:off x="829211" y="3315581"/>
                <a:ext cx="276939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C) an odd multiple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IN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7B909A6-A4CC-42C2-26CA-695445BE1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11" y="3315581"/>
                <a:ext cx="2769391" cy="646331"/>
              </a:xfrm>
              <a:prstGeom prst="rect">
                <a:avLst/>
              </a:prstGeom>
              <a:blipFill>
                <a:blip r:embed="rId4"/>
                <a:stretch>
                  <a:fillRect l="-1762" t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AF475613-B715-BD9B-D1B7-85464BF7D1E5}"/>
              </a:ext>
            </a:extLst>
          </p:cNvPr>
          <p:cNvSpPr txBox="1"/>
          <p:nvPr/>
        </p:nvSpPr>
        <p:spPr>
          <a:xfrm>
            <a:off x="3631505" y="3315581"/>
            <a:ext cx="1941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D)  None of above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F8FD0E-C76F-777F-F33D-BD436351CCD1}"/>
              </a:ext>
            </a:extLst>
          </p:cNvPr>
          <p:cNvSpPr txBox="1"/>
          <p:nvPr/>
        </p:nvSpPr>
        <p:spPr>
          <a:xfrm>
            <a:off x="10826645" y="6224622"/>
            <a:ext cx="1001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C5FFF46-FB65-9C41-C464-C1B789AB98D0}"/>
                  </a:ext>
                </a:extLst>
              </p:cNvPr>
              <p:cNvSpPr txBox="1"/>
              <p:nvPr/>
            </p:nvSpPr>
            <p:spPr>
              <a:xfrm>
                <a:off x="523465" y="909448"/>
                <a:ext cx="6096000" cy="1769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lnSpc>
                    <a:spcPct val="100000"/>
                  </a:lnSpc>
                  <a:buNone/>
                </a:pPr>
                <a:endParaRPr lang="en-IN" sz="18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indent="0" algn="l">
                  <a:buNone/>
                </a:pPr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and</a:t>
                </a:r>
                <a:r>
                  <a:rPr lang="en-IN" dirty="0"/>
                  <a:t> </a:t>
                </a:r>
                <a:endParaRPr lang="en-US" i="1" dirty="0">
                  <a:latin typeface="+mn-lt"/>
                </a:endParaRPr>
              </a:p>
              <a:p>
                <a:pPr marL="0" marR="0" indent="0" algn="l">
                  <a:buNone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are two matrices</a:t>
                </a:r>
                <a:b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</a:br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such that the product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 null matrix, then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</a:t>
                </a:r>
                <a:endParaRPr lang="en-IN" sz="1200" b="0" i="0" dirty="0">
                  <a:solidFill>
                    <a:srgbClr val="272D36"/>
                  </a:solidFill>
                  <a:effectLst/>
                  <a:latin typeface="Inter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C5FFF46-FB65-9C41-C464-C1B789AB9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65" y="909448"/>
                <a:ext cx="6096000" cy="1769972"/>
              </a:xfrm>
              <a:prstGeom prst="rect">
                <a:avLst/>
              </a:prstGeom>
              <a:blipFill>
                <a:blip r:embed="rId5"/>
                <a:stretch>
                  <a:fillRect l="-900" b="-44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6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9A8E0-88B5-1C4B-BE7C-8B1979CB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326EB1E-5074-1C1B-794B-C0CF545F5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C4D7C5-F13F-8C6E-0CD6-0145B09B7888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B7544C-25FC-8B9A-292F-94116E8C5766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38B34C-FD4F-1B3A-3A83-6C561BE26E91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C3AD5-2684-F427-5677-4FA71FD2EBDE}"/>
              </a:ext>
            </a:extLst>
          </p:cNvPr>
          <p:cNvSpPr txBox="1"/>
          <p:nvPr/>
        </p:nvSpPr>
        <p:spPr>
          <a:xfrm>
            <a:off x="175367" y="1268500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40. 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1FAE26-3483-661C-E2A7-103D990840F3}"/>
              </a:ext>
            </a:extLst>
          </p:cNvPr>
          <p:cNvSpPr txBox="1"/>
          <p:nvPr/>
        </p:nvSpPr>
        <p:spPr>
          <a:xfrm>
            <a:off x="420834" y="2007947"/>
            <a:ext cx="1124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945D11-8031-98B8-41CF-7D33FC8CD1A1}"/>
              </a:ext>
            </a:extLst>
          </p:cNvPr>
          <p:cNvSpPr txBox="1"/>
          <p:nvPr/>
        </p:nvSpPr>
        <p:spPr>
          <a:xfrm>
            <a:off x="3256032" y="2054113"/>
            <a:ext cx="443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B) </a:t>
            </a:r>
            <a:br>
              <a:rPr lang="en-IN" dirty="0"/>
            </a:b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C33705-3268-F511-592F-E71DF5523A4F}"/>
              </a:ext>
            </a:extLst>
          </p:cNvPr>
          <p:cNvSpPr txBox="1"/>
          <p:nvPr/>
        </p:nvSpPr>
        <p:spPr>
          <a:xfrm>
            <a:off x="344632" y="2798965"/>
            <a:ext cx="484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C)</a:t>
            </a:r>
            <a:br>
              <a:rPr lang="en-IN" dirty="0"/>
            </a:b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C86C8C-2F2F-89C1-C025-B95D7D59E6D3}"/>
              </a:ext>
            </a:extLst>
          </p:cNvPr>
          <p:cNvSpPr txBox="1"/>
          <p:nvPr/>
        </p:nvSpPr>
        <p:spPr>
          <a:xfrm>
            <a:off x="3190224" y="2863316"/>
            <a:ext cx="1941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D)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0B141C-B9BD-C306-6AB4-0516D3C7FCC5}"/>
              </a:ext>
            </a:extLst>
          </p:cNvPr>
          <p:cNvSpPr txBox="1"/>
          <p:nvPr/>
        </p:nvSpPr>
        <p:spPr>
          <a:xfrm>
            <a:off x="10208164" y="6072222"/>
            <a:ext cx="1001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  <a:r>
              <a:rPr lang="en-I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270DA1-90F3-56B8-CA17-F7AB03C1B0AA}"/>
                  </a:ext>
                </a:extLst>
              </p:cNvPr>
              <p:cNvSpPr txBox="1"/>
              <p:nvPr/>
            </p:nvSpPr>
            <p:spPr>
              <a:xfrm>
                <a:off x="829211" y="1268500"/>
                <a:ext cx="1721321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270DA1-90F3-56B8-CA17-F7AB03C1B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11" y="1268500"/>
                <a:ext cx="1721321" cy="554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A7C87F-861B-BCC5-7E1D-72CC0CE48826}"/>
                  </a:ext>
                </a:extLst>
              </p:cNvPr>
              <p:cNvSpPr txBox="1"/>
              <p:nvPr/>
            </p:nvSpPr>
            <p:spPr>
              <a:xfrm>
                <a:off x="2297576" y="1283168"/>
                <a:ext cx="79742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+6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dirty="0"/>
                  <a:t> is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A7C87F-861B-BCC5-7E1D-72CC0CE4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76" y="1283168"/>
                <a:ext cx="7974204" cy="369332"/>
              </a:xfrm>
              <a:prstGeom prst="rect">
                <a:avLst/>
              </a:prstGeom>
              <a:blipFill>
                <a:blip r:embed="rId4"/>
                <a:stretch>
                  <a:fillRect l="-688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CEBC250-6B2C-AB9C-249C-00F31E7A3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009" y="1856803"/>
            <a:ext cx="1204370" cy="8436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4D19B1-B487-1731-F02E-22F71A17D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1305" y="1896688"/>
            <a:ext cx="1074513" cy="9754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C8DBA9-166B-0E58-39D4-7B1A421AE8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31" y="2778593"/>
            <a:ext cx="1256748" cy="8640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4EA025-FDEA-1087-62A5-1AAC9B2B09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1304" y="2778593"/>
            <a:ext cx="1074513" cy="10668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62AA384-51C1-05A2-0DE8-48124C4320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8944" y="5769165"/>
            <a:ext cx="1074513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8699-1E93-7C8A-B130-E1590E61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13B0C82-F45E-B281-3E67-7B2E2F69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7723DE-3B72-3612-DE8C-AE60F1060809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232F64-1018-B464-CD02-41C8F2F27019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2D51EE-3D74-DE91-A1CC-A82825732265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C3E1A-6036-7F8A-649C-BFBA058A0B21}"/>
              </a:ext>
            </a:extLst>
          </p:cNvPr>
          <p:cNvSpPr txBox="1"/>
          <p:nvPr/>
        </p:nvSpPr>
        <p:spPr>
          <a:xfrm>
            <a:off x="165207" y="1591189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75C5F8-D6F3-8E31-C0B8-474A77741918}"/>
              </a:ext>
            </a:extLst>
          </p:cNvPr>
          <p:cNvSpPr txBox="1"/>
          <p:nvPr/>
        </p:nvSpPr>
        <p:spPr>
          <a:xfrm>
            <a:off x="377169" y="2479613"/>
            <a:ext cx="1124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7F87A5-50F4-B91B-482E-6F701080B409}"/>
              </a:ext>
            </a:extLst>
          </p:cNvPr>
          <p:cNvSpPr txBox="1"/>
          <p:nvPr/>
        </p:nvSpPr>
        <p:spPr>
          <a:xfrm>
            <a:off x="2888043" y="2451419"/>
            <a:ext cx="443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B) </a:t>
            </a:r>
            <a:br>
              <a:rPr lang="en-IN" dirty="0"/>
            </a:b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166E55-FCD4-134F-76A7-F107430FD71B}"/>
              </a:ext>
            </a:extLst>
          </p:cNvPr>
          <p:cNvSpPr txBox="1"/>
          <p:nvPr/>
        </p:nvSpPr>
        <p:spPr>
          <a:xfrm>
            <a:off x="318350" y="2984644"/>
            <a:ext cx="484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C)</a:t>
            </a:r>
            <a:br>
              <a:rPr lang="en-IN" dirty="0"/>
            </a:b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168E76-77A8-DA83-F6D6-EA7AFC260BC2}"/>
              </a:ext>
            </a:extLst>
          </p:cNvPr>
          <p:cNvSpPr txBox="1"/>
          <p:nvPr/>
        </p:nvSpPr>
        <p:spPr>
          <a:xfrm>
            <a:off x="2888043" y="3115882"/>
            <a:ext cx="1941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639BB7-131B-F43D-5D10-E3CFE530E745}"/>
                  </a:ext>
                </a:extLst>
              </p:cNvPr>
              <p:cNvSpPr txBox="1"/>
              <p:nvPr/>
            </p:nvSpPr>
            <p:spPr>
              <a:xfrm>
                <a:off x="9303964" y="6296939"/>
                <a:ext cx="28880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IN" dirty="0"/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is a triangular matrix.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639BB7-131B-F43D-5D10-E3CFE530E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964" y="6296939"/>
                <a:ext cx="2888036" cy="369332"/>
              </a:xfrm>
              <a:prstGeom prst="rect">
                <a:avLst/>
              </a:prstGeom>
              <a:blipFill>
                <a:blip r:embed="rId3"/>
                <a:stretch>
                  <a:fillRect l="-1688" t="-819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10680-449B-3114-7A07-3E7529A8AC05}"/>
                  </a:ext>
                </a:extLst>
              </p:cNvPr>
              <p:cNvSpPr txBox="1"/>
              <p:nvPr/>
            </p:nvSpPr>
            <p:spPr>
              <a:xfrm>
                <a:off x="576762" y="1395576"/>
                <a:ext cx="5996758" cy="1101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which of the following is not </a:t>
                </a:r>
              </a:p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true?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10680-449B-3114-7A07-3E7529A8A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62" y="1395576"/>
                <a:ext cx="5996758" cy="1101905"/>
              </a:xfrm>
              <a:prstGeom prst="rect">
                <a:avLst/>
              </a:prstGeom>
              <a:blipFill>
                <a:blip r:embed="rId4"/>
                <a:stretch>
                  <a:fillRect l="-916" b="-82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CACF29A-D509-C2A8-7646-E11704896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30" y="2447684"/>
            <a:ext cx="1339934" cy="490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77E504-E5A6-779E-264B-D9D5E91DFC39}"/>
                  </a:ext>
                </a:extLst>
              </p:cNvPr>
              <p:cNvSpPr txBox="1"/>
              <p:nvPr/>
            </p:nvSpPr>
            <p:spPr>
              <a:xfrm>
                <a:off x="672028" y="2998705"/>
                <a:ext cx="221600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800" b="0" i="0" u="none" strike="noStrike" dirty="0">
                    <a:solidFill>
                      <a:schemeClr val="tx1"/>
                    </a:solidFill>
                    <a:effectLst/>
                    <a:latin typeface="+mn-lt"/>
                  </a:rPr>
                  <a:t>is a non-singular matrix.</a:t>
                </a:r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77E504-E5A6-779E-264B-D9D5E91DF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8" y="2998705"/>
                <a:ext cx="2216009" cy="646331"/>
              </a:xfrm>
              <a:prstGeom prst="rect">
                <a:avLst/>
              </a:prstGeom>
              <a:blipFill>
                <a:blip r:embed="rId6"/>
                <a:stretch>
                  <a:fillRect l="-2198" t="-4717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95E306-B6B9-7013-C62B-D49C009C22F4}"/>
                  </a:ext>
                </a:extLst>
              </p:cNvPr>
              <p:cNvSpPr txBox="1"/>
              <p:nvPr/>
            </p:nvSpPr>
            <p:spPr>
              <a:xfrm>
                <a:off x="3187637" y="247961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1800" b="0" i="0" u="none" strike="noStrike" dirty="0">
                    <a:solidFill>
                      <a:schemeClr val="tx1"/>
                    </a:solidFill>
                    <a:effectLst/>
                    <a:latin typeface="+mn-lt"/>
                  </a:rPr>
                  <a:t>is a triangular matrix.</a:t>
                </a:r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95E306-B6B9-7013-C62B-D49C009C2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637" y="2479613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t="-6667" b="-3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8CF537-2D0A-D610-279B-673B56022314}"/>
                  </a:ext>
                </a:extLst>
              </p:cNvPr>
              <p:cNvSpPr txBox="1"/>
              <p:nvPr/>
            </p:nvSpPr>
            <p:spPr>
              <a:xfrm>
                <a:off x="3187637" y="311490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1800" b="0" i="0" u="none" strike="noStrike" dirty="0">
                    <a:solidFill>
                      <a:schemeClr val="tx1"/>
                    </a:solidFill>
                    <a:effectLst/>
                    <a:latin typeface="+mn-lt"/>
                  </a:rPr>
                  <a:t>is an identity matrix.</a:t>
                </a:r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8CF537-2D0A-D610-279B-673B56022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637" y="3114903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 t="-6557" b="-27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381E213-7C57-2D22-80B5-AAD45FEAC4C4}"/>
              </a:ext>
            </a:extLst>
          </p:cNvPr>
          <p:cNvSpPr txBox="1"/>
          <p:nvPr/>
        </p:nvSpPr>
        <p:spPr>
          <a:xfrm>
            <a:off x="264947" y="9593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MHT CET 2026 (20 May Shift 1)</a:t>
            </a:r>
          </a:p>
        </p:txBody>
      </p:sp>
    </p:spTree>
    <p:extLst>
      <p:ext uri="{BB962C8B-B14F-4D97-AF65-F5344CB8AC3E}">
        <p14:creationId xmlns:p14="http://schemas.microsoft.com/office/powerpoint/2010/main" val="361529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4DE0-713E-22DD-B16E-0BCDD9D0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419D3BF-1CC1-E91B-967B-D39B8E75E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709A6-64CA-FF75-8BB5-387679B32E9A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4959AB-F0BB-1DAA-BD4E-BD0A3C186F68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8B1397F-C50A-9745-5183-6E95718240D4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10CE0-EB59-DE87-53B7-FB8F0DD024AF}"/>
              </a:ext>
            </a:extLst>
          </p:cNvPr>
          <p:cNvSpPr txBox="1"/>
          <p:nvPr/>
        </p:nvSpPr>
        <p:spPr>
          <a:xfrm>
            <a:off x="165207" y="1591189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0BF02-8791-E308-D25A-9F680313A0E9}"/>
              </a:ext>
            </a:extLst>
          </p:cNvPr>
          <p:cNvSpPr txBox="1"/>
          <p:nvPr/>
        </p:nvSpPr>
        <p:spPr>
          <a:xfrm>
            <a:off x="377169" y="2479613"/>
            <a:ext cx="1124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A) 1/7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75315D-EE62-643B-B6FB-8BAAB7B0282C}"/>
              </a:ext>
            </a:extLst>
          </p:cNvPr>
          <p:cNvSpPr txBox="1"/>
          <p:nvPr/>
        </p:nvSpPr>
        <p:spPr>
          <a:xfrm>
            <a:off x="2888043" y="2451419"/>
            <a:ext cx="443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B) </a:t>
            </a:r>
            <a:br>
              <a:rPr lang="en-IN" dirty="0"/>
            </a:b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4CB461-CAB2-D16C-A52A-2E52D6E7BD3A}"/>
              </a:ext>
            </a:extLst>
          </p:cNvPr>
          <p:cNvSpPr txBox="1"/>
          <p:nvPr/>
        </p:nvSpPr>
        <p:spPr>
          <a:xfrm>
            <a:off x="318350" y="2984644"/>
            <a:ext cx="1302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C)   7</a:t>
            </a:r>
            <a:br>
              <a:rPr lang="en-IN" dirty="0"/>
            </a:b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F8A7C1-5CA2-A726-645E-AAFAA977EE1B}"/>
              </a:ext>
            </a:extLst>
          </p:cNvPr>
          <p:cNvSpPr txBox="1"/>
          <p:nvPr/>
        </p:nvSpPr>
        <p:spPr>
          <a:xfrm>
            <a:off x="2846225" y="2978641"/>
            <a:ext cx="1941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D)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C1E6D9-BD81-147C-087F-09648C63A8B9}"/>
              </a:ext>
            </a:extLst>
          </p:cNvPr>
          <p:cNvSpPr txBox="1"/>
          <p:nvPr/>
        </p:nvSpPr>
        <p:spPr>
          <a:xfrm>
            <a:off x="11068314" y="6298250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  <a:r>
              <a:rPr lang="en-IN" dirty="0"/>
              <a:t>) -7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9DD44B-B3EA-9E61-4200-4094E12BBB1E}"/>
              </a:ext>
            </a:extLst>
          </p:cNvPr>
          <p:cNvSpPr txBox="1"/>
          <p:nvPr/>
        </p:nvSpPr>
        <p:spPr>
          <a:xfrm>
            <a:off x="3187637" y="24796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-1/7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9E11E-725B-F6FC-D4FD-D2FF110EAACD}"/>
              </a:ext>
            </a:extLst>
          </p:cNvPr>
          <p:cNvSpPr txBox="1"/>
          <p:nvPr/>
        </p:nvSpPr>
        <p:spPr>
          <a:xfrm>
            <a:off x="3275780" y="3003332"/>
            <a:ext cx="78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</a:t>
            </a:r>
            <a:r>
              <a:rPr lang="en-IN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4015D-BBA2-ADA6-5344-3762265E10A5}"/>
                  </a:ext>
                </a:extLst>
              </p:cNvPr>
              <p:cNvSpPr txBox="1"/>
              <p:nvPr/>
            </p:nvSpPr>
            <p:spPr>
              <a:xfrm>
                <a:off x="560640" y="1477110"/>
                <a:ext cx="5359544" cy="831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>
                  <a:buNone/>
                </a:pPr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 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a:rPr lang="en-IN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𝑘𝐼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</a:t>
                </a:r>
                <a:endParaRPr lang="en-IN" sz="2400" b="0" i="0" dirty="0">
                  <a:solidFill>
                    <a:srgbClr val="272D36"/>
                  </a:solidFill>
                  <a:effectLst/>
                  <a:latin typeface="Inter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4015D-BBA2-ADA6-5344-3762265E1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40" y="1477110"/>
                <a:ext cx="5359544" cy="831253"/>
              </a:xfrm>
              <a:prstGeom prst="rect">
                <a:avLst/>
              </a:prstGeom>
              <a:blipFill>
                <a:blip r:embed="rId3"/>
                <a:stretch>
                  <a:fillRect l="-1024" b="-10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A5AE173-7EC2-FD97-85BE-12059955B173}"/>
              </a:ext>
            </a:extLst>
          </p:cNvPr>
          <p:cNvSpPr txBox="1"/>
          <p:nvPr/>
        </p:nvSpPr>
        <p:spPr>
          <a:xfrm>
            <a:off x="457200" y="1070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2020 (15 Oct Shift 2)</a:t>
            </a:r>
          </a:p>
        </p:txBody>
      </p:sp>
    </p:spTree>
    <p:extLst>
      <p:ext uri="{BB962C8B-B14F-4D97-AF65-F5344CB8AC3E}">
        <p14:creationId xmlns:p14="http://schemas.microsoft.com/office/powerpoint/2010/main" val="425566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56BB1-57A9-49B5-1DBE-12323A4E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97B4FDD-620C-E4B9-E46E-0C54FCE4B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5F0A28-46E0-4539-C999-525C5E014D7F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D18BDC-5A9E-0191-5576-9200DD0CCC18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2633F23-686C-AD96-C929-57C3314E3FD8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E5C8A8-0BC9-F09B-392B-6691E25EC8D6}"/>
              </a:ext>
            </a:extLst>
          </p:cNvPr>
          <p:cNvSpPr txBox="1"/>
          <p:nvPr/>
        </p:nvSpPr>
        <p:spPr>
          <a:xfrm>
            <a:off x="8087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740BED-F80E-7BB2-A2DE-D252AD71B931}"/>
              </a:ext>
            </a:extLst>
          </p:cNvPr>
          <p:cNvSpPr txBox="1"/>
          <p:nvPr/>
        </p:nvSpPr>
        <p:spPr>
          <a:xfrm>
            <a:off x="11068314" y="6298250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  <a:r>
              <a:rPr lang="en-IN" dirty="0"/>
              <a:t>) -7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F922A-107A-AD26-E5E7-AF39092D267A}"/>
              </a:ext>
            </a:extLst>
          </p:cNvPr>
          <p:cNvSpPr txBox="1"/>
          <p:nvPr/>
        </p:nvSpPr>
        <p:spPr>
          <a:xfrm>
            <a:off x="472150" y="1072887"/>
            <a:ext cx="535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A and B are matrices such that AB = I , then B is:</a:t>
            </a:r>
            <a:endParaRPr lang="en-IN" sz="2400" b="0" i="0" dirty="0">
              <a:solidFill>
                <a:srgbClr val="272D36"/>
              </a:solidFill>
              <a:effectLst/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4AEFF-7926-6C5B-254F-97CAB8AC95B8}"/>
              </a:ext>
            </a:extLst>
          </p:cNvPr>
          <p:cNvSpPr txBox="1"/>
          <p:nvPr/>
        </p:nvSpPr>
        <p:spPr>
          <a:xfrm>
            <a:off x="253405" y="14422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The transpose of A                       B) The zero matrix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right inverse of A                      D) Equal to A</a:t>
            </a:r>
          </a:p>
        </p:txBody>
      </p:sp>
    </p:spTree>
    <p:extLst>
      <p:ext uri="{BB962C8B-B14F-4D97-AF65-F5344CB8AC3E}">
        <p14:creationId xmlns:p14="http://schemas.microsoft.com/office/powerpoint/2010/main" val="6179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450FD-F9AE-04F2-212A-962E97CE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79AF1E6-9D67-1ECD-3A49-F318AD9EF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39D5DA-D706-F69B-D5B8-06E51631EB75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CDCEDD-7C53-939C-868F-7E5B61E299AC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A6B135-269A-7D60-C5B2-3E8FFE556AE0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39B68-FFE2-D55D-4BA9-F9AF374C6718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44. If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1AC335-EBCA-BF95-262D-B79543122108}"/>
              </a:ext>
            </a:extLst>
          </p:cNvPr>
          <p:cNvSpPr txBox="1"/>
          <p:nvPr/>
        </p:nvSpPr>
        <p:spPr>
          <a:xfrm>
            <a:off x="9944236" y="6267442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7A8DE-250B-AE15-49C1-32F22DE736D5}"/>
              </a:ext>
            </a:extLst>
          </p:cNvPr>
          <p:cNvSpPr txBox="1"/>
          <p:nvPr/>
        </p:nvSpPr>
        <p:spPr>
          <a:xfrm>
            <a:off x="668039" y="194596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B)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          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AC713-FBFA-6253-C6D1-C03AF89F2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36"/>
          <a:stretch>
            <a:fillRect/>
          </a:stretch>
        </p:blipFill>
        <p:spPr>
          <a:xfrm>
            <a:off x="825156" y="980205"/>
            <a:ext cx="2720576" cy="646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DA1584-AA16-A177-F406-412725568E86}"/>
              </a:ext>
            </a:extLst>
          </p:cNvPr>
          <p:cNvSpPr txBox="1"/>
          <p:nvPr/>
        </p:nvSpPr>
        <p:spPr>
          <a:xfrm>
            <a:off x="3716039" y="11238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 BA  is: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E0CDFA-F3C3-A9EB-29CE-A3EA8C323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738527"/>
            <a:ext cx="928802" cy="7490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7D5A20-BFF5-54C8-2D79-5EDEF5277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818" y="1738527"/>
            <a:ext cx="928800" cy="7062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208655-5473-22DF-2E88-258E17F3D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687" y="2567959"/>
            <a:ext cx="928801" cy="8466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3F6E3A-25B6-C8CB-22A9-569E292CFA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769" y="2565764"/>
            <a:ext cx="1022975" cy="78796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0538E9-21B6-CBA6-6375-C0FF9B3AC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160" y="6077591"/>
            <a:ext cx="928802" cy="74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398A-93E7-5FCF-990D-7F77BBBE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6A47717-1C60-0A16-D736-6F8581007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07FE05-4060-1EAA-0F17-46722CB10B4A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93D67E-AE83-119D-FE02-81325E907B76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4D64C1-C3B7-AD90-D950-ACC6741E8C07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3A3DAF-4B94-E7BE-5B31-27C4102EA063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301821-7BEE-19C1-3A5C-D88438D8450F}"/>
              </a:ext>
            </a:extLst>
          </p:cNvPr>
          <p:cNvSpPr txBox="1"/>
          <p:nvPr/>
        </p:nvSpPr>
        <p:spPr>
          <a:xfrm>
            <a:off x="9591265" y="6110126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6C5D0-2B43-E3FF-2B41-9FF7B780D182}"/>
              </a:ext>
            </a:extLst>
          </p:cNvPr>
          <p:cNvSpPr txBox="1"/>
          <p:nvPr/>
        </p:nvSpPr>
        <p:spPr>
          <a:xfrm>
            <a:off x="668039" y="194596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B)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          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7B54AA-130D-5CC2-A01F-FE1F1B6B471E}"/>
                  </a:ext>
                </a:extLst>
              </p:cNvPr>
              <p:cNvSpPr txBox="1"/>
              <p:nvPr/>
            </p:nvSpPr>
            <p:spPr>
              <a:xfrm>
                <a:off x="738526" y="1027534"/>
                <a:ext cx="6096000" cy="833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is </a:t>
                </a:r>
              </a:p>
              <a:p>
                <a:r>
                  <a:rPr lang="en-IN" dirty="0"/>
                  <a:t>equal to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7B54AA-130D-5CC2-A01F-FE1F1B6B4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26" y="1027534"/>
                <a:ext cx="6096000" cy="833626"/>
              </a:xfrm>
              <a:prstGeom prst="rect">
                <a:avLst/>
              </a:prstGeom>
              <a:blipFill>
                <a:blip r:embed="rId3"/>
                <a:stretch>
                  <a:fillRect l="-800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D0B82A2-6ED4-29A8-56C2-5E2ADA7CD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965" y="1914194"/>
            <a:ext cx="1468703" cy="6319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9D34A2-712D-7932-48B3-249B461FB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772" y="1808971"/>
            <a:ext cx="1837269" cy="8336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F2E8D8-492C-3FEA-606E-1640ECD75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599" y="2630934"/>
            <a:ext cx="1377124" cy="6355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FA56780-2EB5-13EF-39D6-A3101A0387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932" y="2642597"/>
            <a:ext cx="1681289" cy="6761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7C203FC-B491-1BFA-3D4C-2D9BBFCBF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7810" y="5832645"/>
            <a:ext cx="1837269" cy="83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1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8A1DD-3A86-21DA-345D-F8C5A75C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850826E-52F5-E90A-4C37-DE282BE06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5A7EF8-84A9-700F-D1EE-78DF04C60A97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D58736-B258-9868-946F-79D9828499A0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81FB6B-7E0B-2D41-9879-340B4B805F8B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188A21-E092-039E-F431-61709BD00FC9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7DC97F-512A-D3FF-E8D2-C24B4F3DCF04}"/>
              </a:ext>
            </a:extLst>
          </p:cNvPr>
          <p:cNvSpPr txBox="1"/>
          <p:nvPr/>
        </p:nvSpPr>
        <p:spPr>
          <a:xfrm>
            <a:off x="9944236" y="6267442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D222B-521D-F0BA-6900-B7B0D5A0780B}"/>
              </a:ext>
            </a:extLst>
          </p:cNvPr>
          <p:cNvSpPr txBox="1"/>
          <p:nvPr/>
        </p:nvSpPr>
        <p:spPr>
          <a:xfrm>
            <a:off x="668039" y="194596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ad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B)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              D) </a:t>
            </a:r>
            <a:r>
              <a:rPr lang="en-IN" dirty="0"/>
              <a:t>None of these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7BEC71-BDD0-8656-CD2A-F72A31170437}"/>
                  </a:ext>
                </a:extLst>
              </p:cNvPr>
              <p:cNvSpPr txBox="1"/>
              <p:nvPr/>
            </p:nvSpPr>
            <p:spPr>
              <a:xfrm>
                <a:off x="572753" y="983524"/>
                <a:ext cx="6096000" cy="559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matrix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is equal to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7BEC71-BDD0-8656-CD2A-F72A31170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53" y="983524"/>
                <a:ext cx="6096000" cy="559833"/>
              </a:xfrm>
              <a:prstGeom prst="rect">
                <a:avLst/>
              </a:prstGeom>
              <a:blipFill>
                <a:blip r:embed="rId3"/>
                <a:stretch>
                  <a:fillRect l="-900" b="-1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0478F5C-23BC-7EC7-1951-FACA3B9A1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039" y="1548469"/>
            <a:ext cx="1111167" cy="9976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9FF38D-1719-B58C-EB27-443200F0A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656" y="2247762"/>
            <a:ext cx="2066372" cy="8498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11B8EB-2518-FBDD-B99D-1A945C133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871" y="5768612"/>
            <a:ext cx="1111167" cy="9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3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545A-1700-BE0C-492E-D14A79A1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2202536-3A14-62E2-B7A7-850EF498A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308D48-0E31-A7AF-668C-93B2BF828731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70E91B-22C0-91EB-CB9F-7DC05CB0F91F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3471D1-9D91-C373-B087-5980030ECACE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7EA73F-F59D-9046-93BE-581A00B895E9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467367-8F08-6D27-8977-EE5071D6E04E}"/>
              </a:ext>
            </a:extLst>
          </p:cNvPr>
          <p:cNvSpPr txBox="1"/>
          <p:nvPr/>
        </p:nvSpPr>
        <p:spPr>
          <a:xfrm>
            <a:off x="10978748" y="6198615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4FA3E-9A32-23DB-3337-762D3987BFD4}"/>
              </a:ext>
            </a:extLst>
          </p:cNvPr>
          <p:cNvSpPr txBox="1"/>
          <p:nvPr/>
        </p:nvSpPr>
        <p:spPr>
          <a:xfrm>
            <a:off x="565603" y="22298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6I                               B) I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                                D) 2I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3E8EEC-4980-5D2A-4A38-658B678567A5}"/>
                  </a:ext>
                </a:extLst>
              </p:cNvPr>
              <p:cNvSpPr txBox="1"/>
              <p:nvPr/>
            </p:nvSpPr>
            <p:spPr>
              <a:xfrm>
                <a:off x="572753" y="1106321"/>
                <a:ext cx="5680563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dirty="0"/>
                  <a:t>is non-singular matrix of order 3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IN" dirty="0"/>
                  <a:t>is (where I is a unit matrix of order 3 and 0 is a null matrix of order 3)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3E8EEC-4980-5D2A-4A38-658B67856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53" y="1106321"/>
                <a:ext cx="5680563" cy="1046440"/>
              </a:xfrm>
              <a:prstGeom prst="rect">
                <a:avLst/>
              </a:prstGeom>
              <a:blipFill>
                <a:blip r:embed="rId3"/>
                <a:stretch>
                  <a:fillRect l="-2468" t="-42442" b="-33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368497D-7AC2-A3BE-29D7-3B5205D982CE}"/>
              </a:ext>
            </a:extLst>
          </p:cNvPr>
          <p:cNvSpPr txBox="1"/>
          <p:nvPr/>
        </p:nvSpPr>
        <p:spPr>
          <a:xfrm>
            <a:off x="2525214" y="7035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2022 (11 Aug Shift 1)</a:t>
            </a:r>
          </a:p>
        </p:txBody>
      </p:sp>
    </p:spTree>
    <p:extLst>
      <p:ext uri="{BB962C8B-B14F-4D97-AF65-F5344CB8AC3E}">
        <p14:creationId xmlns:p14="http://schemas.microsoft.com/office/powerpoint/2010/main" val="250338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D51F-2EF2-EE46-1EA3-7BC55ACE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B640E8B-B5DE-2FBD-7FEA-EBA4C600D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D84CD5-03DF-B65C-1A6A-9AFAB7BA6E3F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EB66DA-8929-F027-08A1-15DC0D2BCB05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BEE713-8428-D378-58EE-5AF0DE9AD2AB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ABDBF-D357-8F90-B3C1-F441F0C5DDAA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C1762E-7C05-B535-9585-C8A4ECA03B8F}"/>
              </a:ext>
            </a:extLst>
          </p:cNvPr>
          <p:cNvSpPr txBox="1"/>
          <p:nvPr/>
        </p:nvSpPr>
        <p:spPr>
          <a:xfrm>
            <a:off x="10575625" y="6188209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DD510-F662-8A9B-CA91-B6F499C5D542}"/>
              </a:ext>
            </a:extLst>
          </p:cNvPr>
          <p:cNvSpPr txBox="1"/>
          <p:nvPr/>
        </p:nvSpPr>
        <p:spPr>
          <a:xfrm>
            <a:off x="565603" y="222985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B)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   D)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8F939-4A64-AABB-83DA-C7F5FE733D6C}"/>
                  </a:ext>
                </a:extLst>
              </p:cNvPr>
              <p:cNvSpPr txBox="1"/>
              <p:nvPr/>
            </p:nvSpPr>
            <p:spPr>
              <a:xfrm>
                <a:off x="572754" y="1106321"/>
                <a:ext cx="5523246" cy="921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I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, then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IN" dirty="0"/>
                  <a:t> where</a:t>
                </a:r>
              </a:p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dirty="0"/>
                  <a:t> is equal to...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8F939-4A64-AABB-83DA-C7F5FE733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54" y="1106321"/>
                <a:ext cx="5523246" cy="921791"/>
              </a:xfrm>
              <a:prstGeom prst="rect">
                <a:avLst/>
              </a:prstGeom>
              <a:blipFill>
                <a:blip r:embed="rId3"/>
                <a:stretch>
                  <a:fillRect l="-993" b="-3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4FB5E0B-7F4C-1AE1-5738-CCD78CC6D4A7}"/>
              </a:ext>
            </a:extLst>
          </p:cNvPr>
          <p:cNvSpPr txBox="1"/>
          <p:nvPr/>
        </p:nvSpPr>
        <p:spPr>
          <a:xfrm>
            <a:off x="2525214" y="7035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2022 (11 Aug Shift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5860D-CFE4-CE86-1E08-6B3DE0571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36" y="2153974"/>
            <a:ext cx="823031" cy="586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E5EEFC-632E-C107-AA2D-E953FBE4C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328" y="2138642"/>
            <a:ext cx="777307" cy="647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9465B8-C622-D364-63F0-AEA25785C8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91" y="2691522"/>
            <a:ext cx="876376" cy="701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2EEF63-02E9-DB7C-322B-621964F9E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9430" y="2691522"/>
            <a:ext cx="739205" cy="763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D815E4-6C77-C779-BDD0-E6CBC424C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314" y="6079480"/>
            <a:ext cx="823031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FB72-6912-4D01-2FD9-DBA9C05A7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35B67DE-3E9E-196D-E495-36B74F0B3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856532-5D7E-59C8-A582-FB5D57D35851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6EC2B6-F91E-885A-DF38-FCC1360C2D3F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FBC2992-A446-8887-7868-F3E818607723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1905B9-7277-B8B7-32B6-F8A816841DA0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696DEB-BEBD-B2DA-0AF0-A0821DF23CD9}"/>
              </a:ext>
            </a:extLst>
          </p:cNvPr>
          <p:cNvSpPr txBox="1"/>
          <p:nvPr/>
        </p:nvSpPr>
        <p:spPr>
          <a:xfrm>
            <a:off x="10615833" y="6296939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[2]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17B6A-24E5-1D72-F7B3-D5BEF8AB0176}"/>
              </a:ext>
            </a:extLst>
          </p:cNvPr>
          <p:cNvSpPr txBox="1"/>
          <p:nvPr/>
        </p:nvSpPr>
        <p:spPr>
          <a:xfrm>
            <a:off x="452484" y="22219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[−1]                            B) [1]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[−2]                            D) [2]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BAA52-72E2-F426-D8B4-66F5293C4391}"/>
              </a:ext>
            </a:extLst>
          </p:cNvPr>
          <p:cNvSpPr txBox="1"/>
          <p:nvPr/>
        </p:nvSpPr>
        <p:spPr>
          <a:xfrm>
            <a:off x="2525214" y="7035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MHT CET 2026 (20 April Shift 1)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2480BF-5046-4E35-7B4D-E43DFB03093D}"/>
                  </a:ext>
                </a:extLst>
              </p:cNvPr>
              <p:cNvSpPr txBox="1"/>
              <p:nvPr/>
            </p:nvSpPr>
            <p:spPr>
              <a:xfrm>
                <a:off x="612371" y="1036674"/>
                <a:ext cx="5227989" cy="1108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𝑋𝐴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, </a:t>
                </a:r>
                <a:r>
                  <a:rPr lang="en-IN" dirty="0"/>
                  <a:t> </a:t>
                </a:r>
                <a:r>
                  <a:rPr lang="en-I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then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2480BF-5046-4E35-7B4D-E43DFB03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71" y="1036674"/>
                <a:ext cx="5227989" cy="1108188"/>
              </a:xfrm>
              <a:prstGeom prst="rect">
                <a:avLst/>
              </a:prstGeom>
              <a:blipFill>
                <a:blip r:embed="rId3"/>
                <a:stretch>
                  <a:fillRect l="-932" b="-8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23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B1B8-A5E6-E507-9BDF-6E3F4DB2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79F01C4-A09A-BEAC-F5DB-52D4BD25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433" y="0"/>
            <a:ext cx="2247762" cy="224776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B37941-6BD4-24D2-77EF-9E4A3D845BBF}"/>
              </a:ext>
            </a:extLst>
          </p:cNvPr>
          <p:cNvSpPr txBox="1"/>
          <p:nvPr/>
        </p:nvSpPr>
        <p:spPr>
          <a:xfrm>
            <a:off x="4894006" y="103239"/>
            <a:ext cx="24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F2E300-90FE-6AA8-B322-C55D38D7A589}"/>
              </a:ext>
            </a:extLst>
          </p:cNvPr>
          <p:cNvCxnSpPr>
            <a:cxnSpLocks/>
          </p:cNvCxnSpPr>
          <p:nvPr/>
        </p:nvCxnSpPr>
        <p:spPr>
          <a:xfrm>
            <a:off x="6096000" y="703555"/>
            <a:ext cx="0" cy="59627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9849DB-3995-4B3B-4917-B10C426998E5}"/>
              </a:ext>
            </a:extLst>
          </p:cNvPr>
          <p:cNvSpPr txBox="1"/>
          <p:nvPr/>
        </p:nvSpPr>
        <p:spPr>
          <a:xfrm>
            <a:off x="341895" y="626459"/>
            <a:ext cx="240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*Product of Matrices</a:t>
            </a:r>
            <a:endParaRPr lang="en-IN" b="1" i="0" dirty="0">
              <a:solidFill>
                <a:srgbClr val="272D3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8D66E-AE68-0F0D-2118-CB9D12988BEA}"/>
              </a:ext>
            </a:extLst>
          </p:cNvPr>
          <p:cNvSpPr txBox="1"/>
          <p:nvPr/>
        </p:nvSpPr>
        <p:spPr>
          <a:xfrm>
            <a:off x="169362" y="10728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BA4A63-EB4A-2CF3-B875-F5B4A4782981}"/>
              </a:ext>
            </a:extLst>
          </p:cNvPr>
          <p:cNvSpPr txBox="1"/>
          <p:nvPr/>
        </p:nvSpPr>
        <p:spPr>
          <a:xfrm>
            <a:off x="10153107" y="6198042"/>
            <a:ext cx="112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75980-9F69-B011-E812-16E4D4BAF5B4}"/>
              </a:ext>
            </a:extLst>
          </p:cNvPr>
          <p:cNvSpPr txBox="1"/>
          <p:nvPr/>
        </p:nvSpPr>
        <p:spPr>
          <a:xfrm>
            <a:off x="555771" y="19947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B)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                               D)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8FEA72-4322-9B25-53E8-638C96D03904}"/>
                  </a:ext>
                </a:extLst>
              </p:cNvPr>
              <p:cNvSpPr txBox="1"/>
              <p:nvPr/>
            </p:nvSpPr>
            <p:spPr>
              <a:xfrm>
                <a:off x="645869" y="977415"/>
                <a:ext cx="5523246" cy="831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If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is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AX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IN" dirty="0"/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IN" dirty="0"/>
                  <a:t>is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2×2</m:t>
                    </m:r>
                  </m:oMath>
                </a14:m>
                <a:r>
                  <a:rPr lang="en-IN" dirty="0"/>
                  <a:t> unit matrix, then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8FEA72-4322-9B25-53E8-638C96D03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69" y="977415"/>
                <a:ext cx="5523246" cy="831253"/>
              </a:xfrm>
              <a:prstGeom prst="rect">
                <a:avLst/>
              </a:prstGeom>
              <a:blipFill>
                <a:blip r:embed="rId3"/>
                <a:stretch>
                  <a:fillRect l="-993" b="-10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1021341-5B5C-1182-9CC0-9D5B8BA124AD}"/>
              </a:ext>
            </a:extLst>
          </p:cNvPr>
          <p:cNvSpPr txBox="1"/>
          <p:nvPr/>
        </p:nvSpPr>
        <p:spPr>
          <a:xfrm>
            <a:off x="2525214" y="7035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MHT CET 2022 (11 Aug Shift 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22E4E9-1FAE-20D3-638B-3F7A500B1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184" y="1808668"/>
            <a:ext cx="1150720" cy="6477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CF7D3F-D4EF-72B7-6E1F-80B494F5C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300" y="1808668"/>
            <a:ext cx="1143099" cy="7392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F16085-588B-8D3C-778C-FE6651AF0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656" y="2456424"/>
            <a:ext cx="1005615" cy="6706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10E69C-1803-0EA8-935B-9E7C7C4919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1627" y="2426680"/>
            <a:ext cx="1196444" cy="6553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37DA4A-1315-B5A0-931D-8A4EDA810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5241" y="6013106"/>
            <a:ext cx="1143099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3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IGHTSLIDE_SLIDE_COLLAPSE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2124</Words>
  <Application>Microsoft Office PowerPoint</Application>
  <PresentationFormat>Widescreen</PresentationFormat>
  <Paragraphs>402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</vt:lpstr>
      <vt:lpstr>Aptos Display</vt:lpstr>
      <vt:lpstr>Arial</vt:lpstr>
      <vt:lpstr>Cambria Math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SS</dc:creator>
  <cp:lastModifiedBy>Sahil SS</cp:lastModifiedBy>
  <cp:revision>18</cp:revision>
  <cp:lastPrinted>2026-10-05T06:43:08Z</cp:lastPrinted>
  <dcterms:created xsi:type="dcterms:W3CDTF">2026-10-03T06:07:23Z</dcterms:created>
  <dcterms:modified xsi:type="dcterms:W3CDTF">2026-10-06T02:52:25Z</dcterms:modified>
</cp:coreProperties>
</file>